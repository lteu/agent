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6" r:id="rId27"/>
    <p:sldId id="275" r:id="rId26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TERMINAL AI AGENT · INTERNAL SHARING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74066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252B35"/>
                </a:solidFill>
                <a:latin typeface="PingFang SC"/>
              </a:rPr>
              <a:t>终端 AI Agent
技术架构与实践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862072"/>
            <a:ext cx="7680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6E6A60"/>
                </a:solidFill>
                <a:latin typeface="PingFang SC"/>
              </a:rPr>
              <a:t>初步揭秘引发生产力巨变的 AI Agent，部分理论和实践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474720"/>
            <a:ext cx="6903720" cy="731520"/>
          </a:xfrm>
          <a:prstGeom prst="roundRect">
            <a:avLst/>
          </a:prstGeom>
          <a:solidFill>
            <a:srgbClr val="EEE7D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685032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CHAMPION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5728" y="3621024"/>
            <a:ext cx="48463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70" b="1" i="0">
                <a:solidFill>
                  <a:srgbClr val="252B35"/>
                </a:solidFill>
                <a:latin typeface="PingFang SC"/>
              </a:rPr>
              <a:t>终端 AI Agent 的效率，不来自“更快生成”，而来自可验证的「理解 → 执行 → 验证」闭环。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4489704"/>
            <a:ext cx="68762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实证参考：4,867 位开发者的现场随机试验，AI 编程辅助使完成任务数 +26.08%。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882896"/>
            <a:ext cx="1133856" cy="265176"/>
          </a:xfrm>
          <a:prstGeom prst="roundRect">
            <a:avLst/>
          </a:prstGeom>
          <a:solidFill>
            <a:srgbClr val="EEE7D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914900"/>
            <a:ext cx="11338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B85C36"/>
                </a:solidFill>
                <a:latin typeface="Avenir Next Condensed"/>
              </a:rPr>
              <a:t>内部技术分享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01952" y="4882896"/>
            <a:ext cx="822960" cy="265176"/>
          </a:xfrm>
          <a:prstGeom prst="roundRect">
            <a:avLst/>
          </a:prstGeom>
          <a:solidFill>
            <a:srgbClr val="FCFAF2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1952" y="4914900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2E6FA6"/>
                </a:solidFill>
                <a:latin typeface="Avenir Next Condensed"/>
              </a:rPr>
              <a:t>2026.07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758952"/>
            <a:ext cx="3063240" cy="5074920"/>
          </a:xfrm>
          <a:prstGeom prst="round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108813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85C36"/>
                </a:solidFill>
                <a:latin typeface="Avenir Next Condensed"/>
              </a:rPr>
              <a:t>$ terminal-ai-agent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85632" y="1627632"/>
            <a:ext cx="2441448" cy="603504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55648"/>
            <a:ext cx="1325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E6FA6"/>
                </a:solidFill>
                <a:latin typeface="Avenir Next Condensed"/>
              </a:rPr>
              <a:t>USER INTENT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0224" y="1938528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Avenir Next Condensed"/>
              </a:rPr>
              <a:t>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192" y="224942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50" b="1" i="0">
                <a:solidFill>
                  <a:srgbClr val="6E6A60"/>
                </a:solidFill>
                <a:latin typeface="Avenir Next Condensed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85632" y="2560320"/>
            <a:ext cx="2441448" cy="603504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0224" y="2688336"/>
            <a:ext cx="1325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B85C36"/>
                </a:solidFill>
                <a:latin typeface="Avenir Next Condensed"/>
              </a:rPr>
              <a:t>TOOL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0224" y="2871215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Avenir Next Condensed"/>
              </a:rPr>
              <a:t>execute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7192" y="318211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50" b="1" i="0">
                <a:solidFill>
                  <a:srgbClr val="6E6A60"/>
                </a:solidFill>
                <a:latin typeface="Avenir Next Condensed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85632" y="3493008"/>
            <a:ext cx="2441448" cy="603504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50224" y="3621024"/>
            <a:ext cx="1325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E8657"/>
                </a:solidFill>
                <a:latin typeface="Avenir Next Condensed"/>
              </a:rPr>
              <a:t>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0224" y="3803904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Avenir Next Condensed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7192" y="411480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50" b="1" i="0">
                <a:solidFill>
                  <a:srgbClr val="6E6A60"/>
                </a:solidFill>
                <a:latin typeface="Avenir Next Condensed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85632" y="4425696"/>
            <a:ext cx="2441448" cy="603504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50224" y="4553712"/>
            <a:ext cx="1325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65A9B"/>
                </a:solidFill>
                <a:latin typeface="Avenir Next Condensed"/>
              </a:rPr>
              <a:t>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0224" y="4736592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Avenir Next Condensed"/>
              </a:rPr>
              <a:t>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971032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6E6A60"/>
                </a:solidFill>
                <a:latin typeface="PingFang SC"/>
              </a:rPr>
              <a:t>汇报人：刘通  /  团队：数据生态组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02  /  OPENING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52B35"/>
                </a:solidFill>
                <a:latin typeface="PingFang SC"/>
              </a:rPr>
              <a:t>本次分享的三个部分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E6A60"/>
                </a:solidFill>
                <a:latin typeface="PingFang SC"/>
              </a:rPr>
              <a:t>理论概念与工程模块  →  Harness 运行时  →  团队实践与评测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2148840"/>
            <a:ext cx="3337560" cy="251460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475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6FA6"/>
                </a:solidFill>
                <a:latin typeface="Avenir Next Condensed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" y="2898648"/>
            <a:ext cx="2532888" cy="36576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3026664"/>
            <a:ext cx="272491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52B35"/>
                </a:solidFill>
                <a:latin typeface="PingFang SC"/>
              </a:rPr>
              <a:t>CLI AI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3675887"/>
            <a:ext cx="27066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A60"/>
                </a:solidFill>
                <a:latin typeface="PingFang SC"/>
              </a:rPr>
              <a:t>定义、核心概念、工程组件与六项 Harness 能力。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4425696"/>
            <a:ext cx="2706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E6FA6"/>
                </a:solidFill>
                <a:latin typeface="Avenir Next Condensed"/>
              </a:rPr>
              <a:t>03–07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2148840"/>
            <a:ext cx="3337560" cy="251460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2423160"/>
            <a:ext cx="475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85C36"/>
                </a:solidFill>
                <a:latin typeface="Avenir Next Condensed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45152" y="2898648"/>
            <a:ext cx="2532888" cy="36576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3026664"/>
            <a:ext cx="272491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52B35"/>
                </a:solidFill>
                <a:latin typeface="PingFang SC"/>
              </a:rPr>
              <a:t>Harness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3675887"/>
            <a:ext cx="27066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A60"/>
                </a:solidFill>
                <a:latin typeface="PingFang SC"/>
              </a:rPr>
              <a:t>四个 Agent 的 Loop、Context 与 State 工程实现。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4425696"/>
            <a:ext cx="2706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B85C36"/>
                </a:solidFill>
                <a:latin typeface="Avenir Next Condensed"/>
              </a:rPr>
              <a:t>08–12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11312" y="2148840"/>
            <a:ext cx="3337560" cy="251460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2423160"/>
            <a:ext cx="475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8657"/>
                </a:solidFill>
                <a:latin typeface="Avenir Next Condensed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2898648"/>
            <a:ext cx="2532888" cy="36576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3026664"/>
            <a:ext cx="272491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52B35"/>
                </a:solidFill>
                <a:latin typeface="PingFang SC"/>
              </a:rPr>
              <a:t>agent_biz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675887"/>
            <a:ext cx="27066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A60"/>
                </a:solidFill>
                <a:latin typeface="PingFang SC"/>
              </a:rPr>
              <a:t>工程实践、GAIA 对照、回放、总结与展望。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4425696"/>
            <a:ext cx="2706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E8657"/>
                </a:solidFill>
                <a:latin typeface="Avenir Next Condensed"/>
              </a:rPr>
              <a:t>13–21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5358384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70" b="0" i="0">
                <a:solidFill>
                  <a:srgbClr val="6E6A60"/>
                </a:solidFill>
                <a:latin typeface="Avenir Next Condensed"/>
              </a:rPr>
              <a:t>阅读路径：从“是什么”，到“如何运行”，再到“如何在企业内部构建、验证与持续演进”。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03  / 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52B35"/>
                </a:solidFill>
                <a:latin typeface="PingFang SC"/>
              </a:rPr>
              <a:t>先给结论：终端 AI Agent 的价值在“可执行、可验证、可演进”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E6A60"/>
                </a:solidFill>
                <a:latin typeface="PingFang SC"/>
              </a:rPr>
              <a:t>此页用于替换成汇报中最重要的 3 条结论。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993392"/>
            <a:ext cx="3493008" cy="228600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993392"/>
            <a:ext cx="54864" cy="2286000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19456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6FA6"/>
                </a:solidFill>
                <a:latin typeface="Avenir Next Condense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9304" y="2185416"/>
            <a:ext cx="2624327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结论 01｜不是聊天界面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569464"/>
            <a:ext cx="3054096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核心差异是 Agent 能调用工具、观察结果，并在终端中完成多步任务。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93392"/>
            <a:ext cx="3493008" cy="228600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993392"/>
            <a:ext cx="54864" cy="2286000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19456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185416"/>
            <a:ext cx="2624327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结论 02｜Harness 是操作系统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9464"/>
            <a:ext cx="3054096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LLM 提供推理能力；Harness 管理上下文、工具、权限、恢复与验证。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993392"/>
            <a:ext cx="3493008" cy="228600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993392"/>
            <a:ext cx="54864" cy="2286000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219456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8657"/>
                </a:solidFill>
                <a:latin typeface="Avenir Next Condense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9096" y="2185416"/>
            <a:ext cx="2624327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结论 03｜小而透明更适合演进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569464"/>
            <a:ext cx="3054096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以可替换的核心 Loop 起步，通过 Benchmark 驱动增强，而非堆叠框架。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" y="4828032"/>
            <a:ext cx="10972800" cy="658368"/>
          </a:xfrm>
          <a:prstGeom prst="round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38344"/>
            <a:ext cx="10378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建议决策：〔例如：以自研轻量 Harness 为核心，兼容主流工具协议，并用任务集持续校准能力〕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03  / 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52B35"/>
                </a:solidFill>
                <a:latin typeface="PingFang SC"/>
              </a:rPr>
              <a:t>终端 AI Agent 到底是什么？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E6A60"/>
                </a:solidFill>
                <a:latin typeface="PingFang SC"/>
              </a:rPr>
              <a:t>一句话：在终端中将语言理解、工具调用和反馈循环闭合的任务执行者。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2011680"/>
            <a:ext cx="4983480" cy="324612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3042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E6A60"/>
                </a:solidFill>
                <a:latin typeface="Avenir Next Condensed"/>
              </a:rPr>
              <a:t>TRADITIONAL 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65176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1" i="0">
                <a:solidFill>
                  <a:srgbClr val="252B35"/>
                </a:solidFill>
                <a:latin typeface="PingFang SC"/>
              </a:rPr>
              <a:t>确定性命令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63240"/>
            <a:ext cx="39776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E6A60"/>
                </a:solidFill>
                <a:latin typeface="Avenir Next Condensed"/>
              </a:rPr>
              <a:t>输入参数  →  程序执行  →  固定输出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" y="3456432"/>
            <a:ext cx="4443984" cy="1115568"/>
          </a:xfrm>
          <a:prstGeom prst="roundRect">
            <a:avLst/>
          </a:prstGeom>
          <a:solidFill>
            <a:srgbClr val="252B35"/>
          </a:solidFill>
          <a:ln>
            <a:solidFill>
              <a:srgbClr val="25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aditional_cli.png"/>
          <p:cNvPicPr>
            <a:picLocks noChangeAspect="1"/>
          </p:cNvPicPr>
          <p:nvPr/>
        </p:nvPicPr>
        <p:blipFill>
          <a:blip r:embed="rId2"/>
          <a:srcRect t="26244" b="26244"/>
          <a:stretch>
            <a:fillRect/>
          </a:stretch>
        </p:blipFill>
        <p:spPr>
          <a:xfrm>
            <a:off x="877824" y="3474720"/>
            <a:ext cx="4407408" cy="10789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4809744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6A60"/>
                </a:solidFill>
                <a:latin typeface="PingFang SC"/>
              </a:rPr>
              <a:t>适合：明确、单步、可预期的操作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47104" y="2011680"/>
            <a:ext cx="5038344" cy="3246120"/>
          </a:xfrm>
          <a:prstGeom prst="roundRect">
            <a:avLst/>
          </a:prstGeom>
          <a:solidFill>
            <a:srgbClr val="FCFAF2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21424" y="2304288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TERMINAL AI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1424" y="265176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1" i="0">
                <a:solidFill>
                  <a:srgbClr val="252B35"/>
                </a:solidFill>
                <a:latin typeface="PingFang SC"/>
              </a:rPr>
              <a:t>面向目标的循环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3063240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85C36"/>
                </a:solidFill>
                <a:latin typeface="Avenir Next Condensed"/>
              </a:rPr>
              <a:t>目标  →  计划  →  调用工具  →  观察  →  修正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03136" y="3456432"/>
            <a:ext cx="4471416" cy="1115568"/>
          </a:xfrm>
          <a:prstGeom prst="roundRect">
            <a:avLst/>
          </a:prstGeom>
          <a:solidFill>
            <a:srgbClr val="252B35"/>
          </a:solidFill>
          <a:ln>
            <a:solidFill>
              <a:srgbClr val="25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gent_cli.png"/>
          <p:cNvPicPr>
            <a:picLocks noChangeAspect="1"/>
          </p:cNvPicPr>
          <p:nvPr/>
        </p:nvPicPr>
        <p:blipFill>
          <a:blip r:embed="rId3"/>
          <a:srcRect t="28134" b="28134"/>
          <a:stretch>
            <a:fillRect/>
          </a:stretch>
        </p:blipFill>
        <p:spPr>
          <a:xfrm>
            <a:off x="6821424" y="3474720"/>
            <a:ext cx="4434840" cy="10789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21424" y="4809744"/>
            <a:ext cx="4160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6A60"/>
                </a:solidFill>
                <a:latin typeface="PingFang SC"/>
              </a:rPr>
              <a:t>适合：开放、多步、需根据环境反馈调整的任务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650992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关键变化：从「用户告诉程序怎么做」转向「用户说明想达成什么」。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04  / 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252B35"/>
                </a:solidFill>
                <a:latin typeface="PingFang SC"/>
              </a:rPr>
              <a:t>终端 AI Agent 的工程组件：从界面到真实执行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E6A60"/>
                </a:solidFill>
                <a:latin typeface="PingFang SC"/>
              </a:rPr>
              <a:t>以项目实现为例：TUI 提供交互，Node.js 承载运行时，Harness 编排模型与工具，执行环境完成真实操作。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93392"/>
            <a:ext cx="2084831" cy="1005840"/>
          </a:xfrm>
          <a:prstGeom prst="roundRect">
            <a:avLst/>
          </a:prstGeom>
          <a:solidFill>
            <a:srgbClr val="FCFAF2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18541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6FA6"/>
                </a:solidFill>
                <a:latin typeface="Avenir Next Condensed"/>
              </a:rPr>
              <a:t>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441448"/>
            <a:ext cx="15910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TUI · Ink / React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706624"/>
            <a:ext cx="1600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6E6A60"/>
                </a:solidFill>
                <a:latin typeface="PingFang SC"/>
              </a:rPr>
              <a:t>编辑输入、流式输出、进度展示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6352" y="2377440"/>
            <a:ext cx="292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50" b="1" i="0">
                <a:solidFill>
                  <a:srgbClr val="6E6A60"/>
                </a:solidFill>
                <a:latin typeface="Avenir Next Condensed"/>
              </a:rPr>
              <a:t>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8688" y="1993392"/>
            <a:ext cx="2148840" cy="1005840"/>
          </a:xfrm>
          <a:prstGeom prst="roundRect">
            <a:avLst/>
          </a:prstGeom>
          <a:solidFill>
            <a:srgbClr val="FCFAF2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38144" y="2185416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65A9B"/>
                </a:solidFill>
                <a:latin typeface="Avenir Next Condensed"/>
              </a:rPr>
              <a:t>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8144" y="244144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Node.js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2706624"/>
            <a:ext cx="1600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6E6A60"/>
                </a:solidFill>
                <a:latin typeface="PingFang SC"/>
              </a:rPr>
              <a:t>启动、配置、信号、打包与分发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77256" y="2377440"/>
            <a:ext cx="292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50" b="1" i="0">
                <a:solidFill>
                  <a:srgbClr val="6E6A60"/>
                </a:solidFill>
                <a:latin typeface="Avenir Next Condensed"/>
              </a:rPr>
              <a:t>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79592" y="1856231"/>
            <a:ext cx="2889504" cy="3255264"/>
          </a:xfrm>
          <a:prstGeom prst="roundRect">
            <a:avLst/>
          </a:prstGeom>
          <a:solidFill>
            <a:srgbClr val="EEE7D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5624" y="2084831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CONTROL PLANE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5624" y="2350008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B85C36"/>
                </a:solidFill>
                <a:latin typeface="PingFang SC"/>
              </a:rPr>
              <a:t>Agent Harness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35624" y="2871216"/>
            <a:ext cx="210312" cy="210312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67628" y="2916936"/>
            <a:ext cx="155448" cy="82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1" i="0">
                <a:solidFill>
                  <a:srgbClr val="FFFFFF"/>
                </a:solidFill>
                <a:latin typeface="Avenir Next Condensed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816352"/>
            <a:ext cx="1307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0" b="1" i="0">
                <a:solidFill>
                  <a:srgbClr val="252B35"/>
                </a:solidFill>
                <a:latin typeface="PingFang SC"/>
              </a:rPr>
              <a:t>Agent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83464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PingFang SC"/>
              </a:rPr>
              <a:t>循环、状态、退出条件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5624" y="3346704"/>
            <a:ext cx="210312" cy="210312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7628" y="3392424"/>
            <a:ext cx="155448" cy="82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1" i="0">
                <a:solidFill>
                  <a:srgbClr val="FFFFFF"/>
                </a:solidFill>
                <a:latin typeface="Avenir Next Condensed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291840"/>
            <a:ext cx="1307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0" b="1" i="0">
                <a:solidFill>
                  <a:srgbClr val="252B35"/>
                </a:solidFill>
                <a:latin typeface="PingFang SC"/>
              </a:rPr>
              <a:t>Session &amp;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331012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PingFang SC"/>
              </a:rPr>
              <a:t>历史、系统提示、工具定义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35624" y="3822191"/>
            <a:ext cx="210312" cy="210312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7628" y="3867912"/>
            <a:ext cx="155448" cy="82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1" i="0">
                <a:solidFill>
                  <a:srgbClr val="FFFFFF"/>
                </a:solidFill>
                <a:latin typeface="Avenir Next Condense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3767328"/>
            <a:ext cx="1307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0" b="1" i="0">
                <a:solidFill>
                  <a:srgbClr val="252B35"/>
                </a:solidFill>
                <a:latin typeface="PingFang SC"/>
              </a:rPr>
              <a:t>Compact &amp; 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3785615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PingFang SC"/>
              </a:rPr>
              <a:t>压缩上下文、核验与修正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35624" y="4297680"/>
            <a:ext cx="210312" cy="210312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67628" y="4343400"/>
            <a:ext cx="155448" cy="82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1" i="0">
                <a:solidFill>
                  <a:srgbClr val="FFFFFF"/>
                </a:solidFill>
                <a:latin typeface="Avenir Next Condensed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242816"/>
            <a:ext cx="1307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0" b="1" i="0">
                <a:solidFill>
                  <a:srgbClr val="252B35"/>
                </a:solidFill>
                <a:latin typeface="PingFang SC"/>
              </a:rPr>
              <a:t>Skill Loading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426110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PingFang SC"/>
              </a:rPr>
              <a:t>按需加载可复用操作手册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2377440"/>
            <a:ext cx="292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50" b="1" i="0">
                <a:solidFill>
                  <a:srgbClr val="6E6A60"/>
                </a:solidFill>
                <a:latin typeface="Avenir Next Condensed"/>
              </a:rPr>
              <a:t>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44584" y="1993392"/>
            <a:ext cx="2313432" cy="1005840"/>
          </a:xfrm>
          <a:prstGeom prst="roundRect">
            <a:avLst/>
          </a:prstGeom>
          <a:solidFill>
            <a:srgbClr val="FCFAF2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91472" y="2185416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8657"/>
                </a:solidFill>
                <a:latin typeface="Avenir Next Condensed"/>
              </a:rPr>
              <a:t>REASONING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91472" y="2441448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LLM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91472" y="2706624"/>
            <a:ext cx="1591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6E6A60"/>
                </a:solidFill>
                <a:latin typeface="PingFang SC"/>
              </a:rPr>
              <a:t>理解、规划、生成工具调用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3749039"/>
            <a:ext cx="4901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70" b="1" i="0">
                <a:solidFill>
                  <a:srgbClr val="6E6A60"/>
                </a:solidFill>
                <a:latin typeface="PingFang SC"/>
              </a:rPr>
              <a:t>Harness 将工具调用调度到真实执行环境，并把观察结果回灌模型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324344" y="5120640"/>
            <a:ext cx="0" cy="384048"/>
          </a:xfrm>
          <a:prstGeom prst="line">
            <a:avLst/>
          </a:prstGeom>
          <a:ln w="17780">
            <a:solidFill>
              <a:srgbClr val="B85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353312" y="5504688"/>
            <a:ext cx="9454896" cy="0"/>
          </a:xfrm>
          <a:prstGeom prst="line">
            <a:avLst/>
          </a:prstGeom>
          <a:ln w="17780">
            <a:solidFill>
              <a:srgbClr val="B85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627632" y="5504688"/>
            <a:ext cx="0" cy="146304"/>
          </a:xfrm>
          <a:prstGeom prst="line">
            <a:avLst/>
          </a:prstGeom>
          <a:ln w="13970">
            <a:solidFill>
              <a:srgbClr val="B85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40080" y="5650992"/>
            <a:ext cx="1993392" cy="54864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5797296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E6FA6"/>
                </a:solidFill>
                <a:latin typeface="PingFang SC"/>
              </a:rPr>
              <a:t>文件系统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8760" y="5815584"/>
            <a:ext cx="9326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read / write / list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398264" y="5504688"/>
            <a:ext cx="0" cy="146304"/>
          </a:xfrm>
          <a:prstGeom prst="line">
            <a:avLst/>
          </a:prstGeom>
          <a:ln w="13970">
            <a:solidFill>
              <a:srgbClr val="B85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3410711" y="5650992"/>
            <a:ext cx="1993392" cy="54864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57015" y="5797296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B85C36"/>
                </a:solidFill>
                <a:latin typeface="PingFang SC"/>
              </a:rPr>
              <a:t>命令执行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79392" y="5815584"/>
            <a:ext cx="9326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bash / child_process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168896" y="5504688"/>
            <a:ext cx="0" cy="146304"/>
          </a:xfrm>
          <a:prstGeom prst="line">
            <a:avLst/>
          </a:prstGeom>
          <a:ln w="13970">
            <a:solidFill>
              <a:srgbClr val="B85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6181344" y="5650992"/>
            <a:ext cx="1993392" cy="54864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7648" y="5797296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E8657"/>
                </a:solidFill>
                <a:latin typeface="PingFang SC"/>
              </a:rPr>
              <a:t>浏览器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50024" y="5815584"/>
            <a:ext cx="9326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Playwright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939528" y="5504688"/>
            <a:ext cx="0" cy="146304"/>
          </a:xfrm>
          <a:prstGeom prst="line">
            <a:avLst/>
          </a:prstGeom>
          <a:ln w="13970">
            <a:solidFill>
              <a:srgbClr val="B85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8951976" y="5650992"/>
            <a:ext cx="1993392" cy="54864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98280" y="5797296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765A9B"/>
                </a:solidFill>
                <a:latin typeface="PingFang SC"/>
              </a:rPr>
              <a:t>常驻终端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20655" y="5815584"/>
            <a:ext cx="9326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tmux session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05  /  CORE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252B35"/>
                </a:solidFill>
                <a:latin typeface="PingFang SC"/>
              </a:rPr>
              <a:t>AI Agent = LLM +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 i="0">
                <a:solidFill>
                  <a:srgbClr val="6E6A60"/>
                </a:solidFill>
                <a:latin typeface="PingFang SC"/>
              </a:rPr>
              <a:t>模型负责生成与判断；Harness 把原始推理能力变成一个在真实环境中可控、可靠完成任务的系统。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2852928" cy="1188720"/>
          </a:xfrm>
          <a:prstGeom prst="roundRect">
            <a:avLst/>
          </a:prstGeom>
          <a:solidFill>
            <a:srgbClr val="FCFAF2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313432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1" i="0">
                <a:solidFill>
                  <a:srgbClr val="2E6FA6"/>
                </a:solidFill>
                <a:latin typeface="Avenir Next Condensed"/>
              </a:rPr>
              <a:t>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15768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推理引擎 / 原始能力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44368"/>
            <a:ext cx="2240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像 CPU：能执行推理，但不管理系统。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7328" y="2404872"/>
            <a:ext cx="4389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 i="0">
                <a:solidFill>
                  <a:srgbClr val="6E6A60"/>
                </a:solidFill>
                <a:latin typeface="Avenir Next Condensed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29968"/>
            <a:ext cx="3913632" cy="1188720"/>
          </a:xfrm>
          <a:prstGeom prst="roundRect">
            <a:avLst/>
          </a:prstGeom>
          <a:solidFill>
            <a:srgbClr val="EEE7D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231343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1" i="0">
                <a:solidFill>
                  <a:srgbClr val="B85C36"/>
                </a:solidFill>
                <a:latin typeface="Avenir Next Condensed"/>
              </a:rPr>
              <a:t>HARNESS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2715768"/>
            <a:ext cx="2788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运行时 / 控制与编排层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944368"/>
            <a:ext cx="3136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5C36"/>
                </a:solidFill>
                <a:latin typeface="PingFang SC"/>
              </a:rPr>
              <a:t>其中 Agent Loop 是执行内核。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3648" y="2404872"/>
            <a:ext cx="4389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 i="0">
                <a:solidFill>
                  <a:srgbClr val="6E6A60"/>
                </a:solidFill>
                <a:latin typeface="Avenir Next Condensed"/>
              </a:rPr>
              <a:t>=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62872" y="2029968"/>
            <a:ext cx="2286000" cy="1188720"/>
          </a:xfrm>
          <a:prstGeom prst="roundRect">
            <a:avLst/>
          </a:prstGeom>
          <a:solidFill>
            <a:srgbClr val="FCFAF2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37192" y="2313432"/>
            <a:ext cx="15910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E8657"/>
                </a:solidFill>
                <a:latin typeface="Avenir Next Condensed"/>
              </a:rPr>
              <a:t>AI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37192" y="2761488"/>
            <a:ext cx="15910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可执行的任务系统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858768"/>
            <a:ext cx="475488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52B35"/>
                </a:solidFill>
                <a:latin typeface="PingFang SC"/>
              </a:rPr>
              <a:t>Harness 的职责：Agent Loop + 四个保障层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325112"/>
            <a:ext cx="1993392" cy="969264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4517136"/>
            <a:ext cx="2468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B85C36"/>
                </a:solidFill>
                <a:latin typeface="Avenir Next Condensed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" y="448970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Agent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855464"/>
            <a:ext cx="1618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决策、调用、观察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0360" y="4325112"/>
            <a:ext cx="1993392" cy="969264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4517136"/>
            <a:ext cx="2468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2E6FA6"/>
                </a:solidFill>
                <a:latin typeface="Avenir Next Condensed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4136" y="448970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上下文与记忆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4952" y="4855464"/>
            <a:ext cx="1618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拼装、压缩、恢复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02352" y="4325112"/>
            <a:ext cx="1993392" cy="969264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66944" y="4517136"/>
            <a:ext cx="2468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2E8657"/>
                </a:solidFill>
                <a:latin typeface="Avenir Next Condensed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96128" y="448970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工具与进程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66944" y="4855464"/>
            <a:ext cx="1618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选择、执行、隔离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24344" y="4325112"/>
            <a:ext cx="1993392" cy="969264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88936" y="4517136"/>
            <a:ext cx="2468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B94A48"/>
                </a:solidFill>
                <a:latin typeface="Avenir Next Condensed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48970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权限与恢复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4855464"/>
            <a:ext cx="1618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审批、重试、断点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46336" y="4325112"/>
            <a:ext cx="1993392" cy="969264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10928" y="4517136"/>
            <a:ext cx="2468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765A9B"/>
                </a:solidFill>
                <a:latin typeface="Avenir Next Condensed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0112" y="448970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验证与观测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0928" y="4855464"/>
            <a:ext cx="1618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测试、确认、指标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623560"/>
            <a:ext cx="10881360" cy="411480"/>
          </a:xfrm>
          <a:prstGeom prst="round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5751576"/>
            <a:ext cx="10287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85C36"/>
                </a:solidFill>
                <a:latin typeface="PingFang SC"/>
              </a:rPr>
              <a:t>关系：Agent Loop ⊂ Harness —— Loop 让 Agent 不断行动；Harness 让行动可控、可靠、可恢复。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06  / 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52B35"/>
                </a:solidFill>
                <a:latin typeface="PingFang SC"/>
              </a:rPr>
              <a:t>Agent Loop：Harness 内的执行内核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E6A60"/>
                </a:solidFill>
                <a:latin typeface="PingFang SC"/>
              </a:rPr>
              <a:t>Harness 先提供上下文、工具与边界；Loop 再驱动 LLM 和工具反复协作，直到任务完成。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993392"/>
            <a:ext cx="10972800" cy="3145536"/>
          </a:xfrm>
          <a:prstGeom prst="roundRect">
            <a:avLst/>
          </a:prstGeom>
          <a:solidFill>
            <a:srgbClr val="FCFAF2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21284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AGENT LOOP / HARNESS EXECUTION KERNEL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33488" y="2157984"/>
            <a:ext cx="3703320" cy="265176"/>
          </a:xfrm>
          <a:prstGeom prst="roundRect">
            <a:avLst/>
          </a:prstGeom>
          <a:solidFill>
            <a:srgbClr val="FCFAF2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33488" y="2189988"/>
            <a:ext cx="3703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B94A48"/>
                </a:solidFill>
                <a:latin typeface="Avenir Next Condensed"/>
              </a:rPr>
              <a:t>Exit: task done / user stop / budget exhausted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99232"/>
            <a:ext cx="1554480" cy="822960"/>
          </a:xfrm>
          <a:prstGeom prst="roundRect">
            <a:avLst/>
          </a:prstGeom>
          <a:solidFill>
            <a:srgbClr val="FCFAF2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172968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6FA6"/>
                </a:solidFill>
                <a:latin typeface="Avenir Next Condense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38328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理解目标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1176" y="32369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50" b="1" i="0">
                <a:solidFill>
                  <a:srgbClr val="6E6A60"/>
                </a:solidFill>
                <a:latin typeface="Avenir Next Condensed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35808" y="2999232"/>
            <a:ext cx="1554480" cy="822960"/>
          </a:xfrm>
          <a:prstGeom prst="roundRect">
            <a:avLst/>
          </a:prstGeom>
          <a:solidFill>
            <a:srgbClr val="FCFAF2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3172968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85C36"/>
                </a:solidFill>
                <a:latin typeface="Avenir Next Condense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38328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规划下一步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3" y="32369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50" b="1" i="0">
                <a:solidFill>
                  <a:srgbClr val="6E6A60"/>
                </a:solidFill>
                <a:latin typeface="Avenir Next Condensed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999232"/>
            <a:ext cx="1554480" cy="822960"/>
          </a:xfrm>
          <a:prstGeom prst="roundRect">
            <a:avLst/>
          </a:prstGeom>
          <a:solidFill>
            <a:srgbClr val="FCFAF2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1807" y="3172968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65A9B"/>
                </a:solidFill>
                <a:latin typeface="Avenir Next Condense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7" y="338328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执行工具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32369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50" b="1" i="0">
                <a:solidFill>
                  <a:srgbClr val="6E6A60"/>
                </a:solidFill>
                <a:latin typeface="Avenir Next Condensed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78624" y="2999232"/>
            <a:ext cx="1554480" cy="822960"/>
          </a:xfrm>
          <a:prstGeom prst="roundRect">
            <a:avLst/>
          </a:prstGeom>
          <a:solidFill>
            <a:srgbClr val="FCFAF2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6" y="3172968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8657"/>
                </a:solidFill>
                <a:latin typeface="Avenir Next Condense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338328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观察结果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32369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50" b="1" i="0">
                <a:solidFill>
                  <a:srgbClr val="6E6A60"/>
                </a:solidFill>
                <a:latin typeface="Avenir Next Condensed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00032" y="2999232"/>
            <a:ext cx="1554480" cy="822960"/>
          </a:xfrm>
          <a:prstGeom prst="roundRect">
            <a:avLst/>
          </a:prstGeom>
          <a:solidFill>
            <a:srgbClr val="FCFAF2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64624" y="3172968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94A48"/>
                </a:solidFill>
                <a:latin typeface="Avenir Next Condensed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64624" y="338328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验证 / 继续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241280" y="4169663"/>
            <a:ext cx="0" cy="438913"/>
          </a:xfrm>
          <a:prstGeom prst="line">
            <a:avLst/>
          </a:prstGeom>
          <a:ln w="19050">
            <a:solidFill>
              <a:srgbClr val="B85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828800" y="4608576"/>
            <a:ext cx="8412480" cy="0"/>
          </a:xfrm>
          <a:prstGeom prst="line">
            <a:avLst/>
          </a:prstGeom>
          <a:ln w="19050">
            <a:solidFill>
              <a:srgbClr val="B85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828800" y="4169663"/>
            <a:ext cx="0" cy="438913"/>
          </a:xfrm>
          <a:prstGeom prst="line">
            <a:avLst/>
          </a:prstGeom>
          <a:ln w="19050">
            <a:solidFill>
              <a:srgbClr val="B85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926080" y="470916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 i="0">
                <a:solidFill>
                  <a:srgbClr val="B85C36"/>
                </a:solidFill>
                <a:latin typeface="Avenir Next Condensed"/>
              </a:rPr>
              <a:t>未完成：带着 observation 回到下一轮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422392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E6A60"/>
                </a:solidFill>
                <a:latin typeface="PingFang SC"/>
              </a:rPr>
              <a:t>Harness 在每一轮提供并约束 Loop：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61488" y="5358384"/>
            <a:ext cx="1508760" cy="265176"/>
          </a:xfrm>
          <a:prstGeom prst="roundRect">
            <a:avLst/>
          </a:prstGeom>
          <a:solidFill>
            <a:srgbClr val="FCFAF2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61488" y="5390388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765A9B"/>
                </a:solidFill>
                <a:latin typeface="Avenir Next Condensed"/>
              </a:rPr>
              <a:t>上下文 / Prompt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26864" y="5358384"/>
            <a:ext cx="1371600" cy="265176"/>
          </a:xfrm>
          <a:prstGeom prst="roundRect">
            <a:avLst/>
          </a:prstGeom>
          <a:solidFill>
            <a:srgbClr val="FCFAF2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26864" y="539038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2E8657"/>
                </a:solidFill>
                <a:latin typeface="Avenir Next Condensed"/>
              </a:rPr>
              <a:t>工具 / 进程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5358384"/>
            <a:ext cx="1371600" cy="265176"/>
          </a:xfrm>
          <a:prstGeom prst="roundRect">
            <a:avLst/>
          </a:prstGeom>
          <a:solidFill>
            <a:srgbClr val="FCFAF2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539038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B94A48"/>
                </a:solidFill>
                <a:latin typeface="Avenir Next Condensed"/>
              </a:rPr>
              <a:t>权限 / 策略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83296" y="5358384"/>
            <a:ext cx="1371600" cy="265176"/>
          </a:xfrm>
          <a:prstGeom prst="roundRect">
            <a:avLst/>
          </a:prstGeom>
          <a:solidFill>
            <a:srgbClr val="FCFAF2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83296" y="539038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B85C36"/>
                </a:solidFill>
                <a:latin typeface="Avenir Next Condensed"/>
              </a:rPr>
              <a:t>验证 / 恢复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07  /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52B35"/>
                </a:solidFill>
                <a:latin typeface="PingFang SC"/>
              </a:rPr>
              <a:t>Harness 的工程实现：1 个执行内核 + 5 个保障层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E6A60"/>
                </a:solidFill>
                <a:latin typeface="PingFang SC"/>
              </a:rPr>
              <a:t>Agent Loop 负责让任务持续向前；其余模块负责让每一步可理解、可控、可验证、可恢复。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682496"/>
            <a:ext cx="3337560" cy="265176"/>
          </a:xfrm>
          <a:prstGeom prst="roundRect">
            <a:avLst/>
          </a:prstGeom>
          <a:solidFill>
            <a:srgbClr val="FCFAF2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714500"/>
            <a:ext cx="3337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B85C36"/>
                </a:solidFill>
                <a:latin typeface="Avenir Next Condensed"/>
              </a:rPr>
              <a:t>HARNESS = AGENT LOOP + SUPPORTING LAYERS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965960"/>
            <a:ext cx="3438144" cy="1225296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" y="1965960"/>
            <a:ext cx="54864" cy="1225296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16712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9304" y="2157984"/>
            <a:ext cx="2569463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Agent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542032"/>
            <a:ext cx="29992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执行内核：状态、决策迭代、退出条件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965960"/>
            <a:ext cx="3438144" cy="1225296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2544" y="1965960"/>
            <a:ext cx="54864" cy="1225296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216712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6FA6"/>
                </a:solidFill>
                <a:latin typeface="Avenir Next Condense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8344" y="2157984"/>
            <a:ext cx="2569463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Context &amp;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542032"/>
            <a:ext cx="29992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拼装任务、历史、环境与约束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965960"/>
            <a:ext cx="3438144" cy="1225296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3" y="1965960"/>
            <a:ext cx="54864" cy="1225296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216712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8657"/>
                </a:solidFill>
                <a:latin typeface="Avenir Next Condense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87384" y="2157984"/>
            <a:ext cx="2569463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Tool Orchestration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3" y="2542032"/>
            <a:ext cx="29992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定义、选择、校验与执行隔离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" y="3593591"/>
            <a:ext cx="3438144" cy="1225296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" y="3593591"/>
            <a:ext cx="54864" cy="1225296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3794759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65A9B"/>
                </a:solidFill>
                <a:latin typeface="Avenir Next Condense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9304" y="3785615"/>
            <a:ext cx="2569463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State &amp; Memory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169663"/>
            <a:ext cx="29992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压缩历史、保存状态、断点续跑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52544" y="3593591"/>
            <a:ext cx="3438144" cy="1225296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52544" y="3593591"/>
            <a:ext cx="54864" cy="1225296"/>
          </a:xfrm>
          <a:prstGeom prst="rect">
            <a:avLst/>
          </a:prstGeom>
          <a:solidFill>
            <a:srgbClr val="B94A48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62856" y="3794759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94A48"/>
                </a:solidFill>
                <a:latin typeface="Avenir Next Condensed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8344" y="3785615"/>
            <a:ext cx="2569463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Permission &amp; Policy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4169663"/>
            <a:ext cx="29992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风险分级、审批、审计与边界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01583" y="3593591"/>
            <a:ext cx="3438144" cy="1225296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01583" y="3593591"/>
            <a:ext cx="54864" cy="1225296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11896" y="3794759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6FA6"/>
                </a:solidFill>
                <a:latin typeface="Avenir Next Condensed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7384" y="3785615"/>
            <a:ext cx="2569463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Verification &amp; Recovery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0183" y="4169663"/>
            <a:ext cx="29992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测试、确认、重试、回滚与升级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47725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工程判断：先让 Loop 跑起来，再按任务风险补齐上下文、工具、状态、权限与验证；它们共同构成 Harness。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08  /  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52B35"/>
                </a:solidFill>
                <a:latin typeface="PingFang SC"/>
              </a:rPr>
              <a:t>四个代表性终端 Agent：分别是谁，为什么值得看？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E6A60"/>
                </a:solidFill>
                <a:latin typeface="PingFang SC"/>
              </a:rPr>
              <a:t>它们不在竞争同一个位置：从商业编码助手、个人 Agent 入口，到可复用 Harness 与自我进化的自主 Agent。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920240"/>
            <a:ext cx="5230368" cy="166420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920240"/>
            <a:ext cx="64008" cy="1664208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103120"/>
            <a:ext cx="2514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6FA6"/>
                </a:solidFill>
                <a:latin typeface="Avenir Next Condensed"/>
              </a:rPr>
              <a:t>CLAUDE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2121408"/>
            <a:ext cx="103327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19" b="1" i="0">
                <a:solidFill>
                  <a:srgbClr val="6E6A60"/>
                </a:solidFill>
                <a:latin typeface="Avenir Next Condensed"/>
              </a:rPr>
              <a:t>Anthropic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95728"/>
            <a:ext cx="44165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终端里的 Agentic 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43200"/>
            <a:ext cx="31272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2E6FA6"/>
                </a:solidFill>
                <a:latin typeface="PingFang SC"/>
              </a:rPr>
              <a:t>商业编码 Agent 的标杆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4" y="2697480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50" b="1" i="0">
                <a:solidFill>
                  <a:srgbClr val="2E6FA6"/>
                </a:solidFill>
                <a:latin typeface="Avenir Next Condensed"/>
              </a:rPr>
              <a:t>138k 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9536" y="3044952"/>
            <a:ext cx="4608576" cy="0"/>
          </a:xfrm>
          <a:prstGeom prst="line">
            <a:avLst/>
          </a:prstGeom>
          <a:ln w="7620">
            <a:solidFill>
              <a:srgbClr val="DD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9536" y="3218688"/>
            <a:ext cx="4498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让模型直接理解代码库、执行命令与 Git 工作流。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920240"/>
            <a:ext cx="5230368" cy="166420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920240"/>
            <a:ext cx="64008" cy="166420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103120"/>
            <a:ext cx="2514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85C36"/>
                </a:solidFill>
                <a:latin typeface="Avenir Next Condensed"/>
              </a:rPr>
              <a:t>OPENCLAW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121408"/>
            <a:ext cx="103327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19" b="1" i="0">
                <a:solidFill>
                  <a:srgbClr val="6E6A60"/>
                </a:solidFill>
                <a:latin typeface="Avenir Next Condensed"/>
              </a:rPr>
              <a:t>OpenClaw 社区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395728"/>
            <a:ext cx="44165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你的个人 AI 助手：任意 OS、任意平台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743200"/>
            <a:ext cx="31272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B85C36"/>
                </a:solidFill>
                <a:latin typeface="PingFang SC"/>
              </a:rPr>
              <a:t>开源个人 Agent 的破圈案例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40112" y="2697480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50" b="1" i="0">
                <a:solidFill>
                  <a:srgbClr val="B85C36"/>
                </a:solidFill>
                <a:latin typeface="Avenir Next Condensed"/>
              </a:rPr>
              <a:t>383k ★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55664" y="3044952"/>
            <a:ext cx="4608576" cy="0"/>
          </a:xfrm>
          <a:prstGeom prst="line">
            <a:avLst/>
          </a:prstGeom>
          <a:ln w="7620">
            <a:solidFill>
              <a:srgbClr val="DD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55664" y="3218688"/>
            <a:ext cx="4498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复用 Pi Agent Core；自身聚焦 Gateway、渠道与编排。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" y="3886200"/>
            <a:ext cx="5230368" cy="166420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" y="3886200"/>
            <a:ext cx="64008" cy="1664208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069080"/>
            <a:ext cx="2514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8657"/>
                </a:solidFill>
                <a:latin typeface="Avenir Next Condensed"/>
              </a:rPr>
              <a:t>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4087368"/>
            <a:ext cx="103327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19" b="1" i="0">
                <a:solidFill>
                  <a:srgbClr val="6E6A60"/>
                </a:solidFill>
                <a:latin typeface="Avenir Next Condensed"/>
              </a:rPr>
              <a:t>Earendil Works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361688"/>
            <a:ext cx="44165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Agent Harness：可组合的运行时积木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4709160"/>
            <a:ext cx="31272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2E8657"/>
                </a:solidFill>
                <a:latin typeface="PingFang SC"/>
              </a:rPr>
              <a:t>开发者导向的开源基础设施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984" y="4663440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50" b="1" i="0">
                <a:solidFill>
                  <a:srgbClr val="2E8657"/>
                </a:solidFill>
                <a:latin typeface="Avenir Next Condensed"/>
              </a:rPr>
              <a:t>70.7k ★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9536" y="5010912"/>
            <a:ext cx="4608576" cy="0"/>
          </a:xfrm>
          <a:prstGeom prst="line">
            <a:avLst/>
          </a:prstGeom>
          <a:ln w="7620">
            <a:solidFill>
              <a:srgbClr val="DD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9536" y="5184648"/>
            <a:ext cx="4498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把 LLM API、Agent Loop、TUI 和 Coding CLI 拆成独立组件。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3886200"/>
            <a:ext cx="5230368" cy="166420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3886200"/>
            <a:ext cx="64008" cy="1664208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4069080"/>
            <a:ext cx="2514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65A9B"/>
                </a:solidFill>
                <a:latin typeface="Avenir Next Condensed"/>
              </a:rPr>
              <a:t>HERMES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4087368"/>
            <a:ext cx="103327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19" b="1" i="0">
                <a:solidFill>
                  <a:srgbClr val="6E6A60"/>
                </a:solidFill>
                <a:latin typeface="Avenir Next Condensed"/>
              </a:rPr>
              <a:t>Nous Research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4361688"/>
            <a:ext cx="44165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The agent that grows with you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5664" y="4709160"/>
            <a:ext cx="31272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765A9B"/>
                </a:solidFill>
                <a:latin typeface="PingFang SC"/>
              </a:rPr>
              <a:t>自我学习 Agent 的新代表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0112" y="4663440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50" b="1" i="0">
                <a:solidFill>
                  <a:srgbClr val="765A9B"/>
                </a:solidFill>
                <a:latin typeface="Avenir Next Condensed"/>
              </a:rPr>
              <a:t>214k ★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55664" y="5010912"/>
            <a:ext cx="4608576" cy="0"/>
          </a:xfrm>
          <a:prstGeom prst="line">
            <a:avLst/>
          </a:prstGeom>
          <a:ln w="7620">
            <a:solidFill>
              <a:srgbClr val="DD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455664" y="5184648"/>
            <a:ext cx="4498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从经验中沉淀技能、跨会话记忆，并可部署到自己的环境。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598932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6E6A60"/>
                </a:solidFill>
                <a:latin typeface="PingFang SC"/>
              </a:rPr>
              <a:t>影响力指标：GitHub Stars（截至 2026-07-14）；它衡量社区关注度，不等同于企业收入或实际部署规模。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09  /  SOURCE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52B35"/>
                </a:solidFill>
                <a:latin typeface="PingFang SC"/>
              </a:rPr>
              <a:t>Harness 能力与源代码实现：谁在负责什么？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E6A60"/>
                </a:solidFill>
                <a:latin typeface="PingFang SC"/>
              </a:rPr>
              <a:t>同一能力的责任边界不同：Claude Code 偏产品型 CLI，OpenClaw 偏 Gateway 编排，Pi 是可复用 runtime，Hermes 偏自主运行平台。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865376"/>
            <a:ext cx="3438144" cy="150876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865376"/>
            <a:ext cx="64008" cy="1508760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3911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2020824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Agent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368296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B85C36"/>
                </a:solidFill>
                <a:latin typeface="Avenir Next Condensed"/>
              </a:rPr>
              <a:t>CC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2359152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queryLoop()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578608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B85C36"/>
                </a:solidFill>
                <a:latin typeface="Avenir Next Condensed"/>
              </a:rPr>
              <a:t>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9576" y="2569464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embedded Pi runner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2788920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B85C36"/>
                </a:solidFill>
                <a:latin typeface="Avenir Next Condensed"/>
              </a:rPr>
              <a:t>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576" y="2779776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runLoop()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999232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B85C36"/>
                </a:solidFill>
                <a:latin typeface="Avenir Next Condensed"/>
              </a:rPr>
              <a:t>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6" y="2990088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run_conversation()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2544" y="1865376"/>
            <a:ext cx="3438144" cy="150876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52544" y="1865376"/>
            <a:ext cx="64008" cy="1508760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203911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6FA6"/>
                </a:solidFill>
                <a:latin typeface="Avenir Next Condense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5192" y="2020824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Context &amp; 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6" y="2368296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E6FA6"/>
                </a:solidFill>
                <a:latin typeface="Avenir Next Condensed"/>
              </a:rPr>
              <a:t>CC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28616" y="2359152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effective prompt + compact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2856" y="2578608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E6FA6"/>
                </a:solidFill>
                <a:latin typeface="Avenir Next Condensed"/>
              </a:rPr>
              <a:t>OC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28616" y="2569464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workspace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88920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E6FA6"/>
                </a:solidFill>
                <a:latin typeface="Avenir Next Condensed"/>
              </a:rPr>
              <a:t>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8616" y="2779776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session / JSONL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2999232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E6FA6"/>
                </a:solidFill>
                <a:latin typeface="Avenir Next Condensed"/>
              </a:rPr>
              <a:t>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28616" y="2990088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prompt parts + compressor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3" y="1865376"/>
            <a:ext cx="3438144" cy="150876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1583" y="1865376"/>
            <a:ext cx="64008" cy="1508760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203911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8657"/>
                </a:solidFill>
                <a:latin typeface="Avenir Next Condensed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14232" y="2020824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Tool Orchestration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2368296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E8657"/>
                </a:solidFill>
                <a:latin typeface="Avenir Next Condensed"/>
              </a:rPr>
              <a:t>CC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77656" y="2359152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typed Tool + hooks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2578608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E8657"/>
                </a:solidFill>
                <a:latin typeface="Avenir Next Condensed"/>
              </a:rPr>
              <a:t>OC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77656" y="2569464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OpenClaw tool adapter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1896" y="2788920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E8657"/>
                </a:solidFill>
                <a:latin typeface="Avenir Next Condensed"/>
              </a:rPr>
              <a:t>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77656" y="2779776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ToolDefinition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1896" y="2999232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E8657"/>
                </a:solidFill>
                <a:latin typeface="Avenir Next Condensed"/>
              </a:rPr>
              <a:t>HS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77656" y="2990088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registry.register()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504" y="3739896"/>
            <a:ext cx="3438144" cy="150876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3504" y="3739896"/>
            <a:ext cx="64008" cy="1508760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" y="391363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65A9B"/>
                </a:solidFill>
                <a:latin typeface="Avenir Next Condensed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3895344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State &amp; Memory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" y="4242816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765A9B"/>
                </a:solidFill>
                <a:latin typeface="Avenir Next Condensed"/>
              </a:rPr>
              <a:t>CC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9576" y="4233672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SessionMemory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" y="4453128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765A9B"/>
                </a:solidFill>
                <a:latin typeface="Avenir Next Condensed"/>
              </a:rPr>
              <a:t>OC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9576" y="4443984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transcript + parentId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" y="4663440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765A9B"/>
                </a:solidFill>
                <a:latin typeface="Avenir Next Condensed"/>
              </a:rPr>
              <a:t>PI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9576" y="4654296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session harness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" y="4873752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765A9B"/>
                </a:solidFill>
                <a:latin typeface="Avenir Next Condensed"/>
              </a:rPr>
              <a:t>HS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79576" y="4864608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memory + checkpoint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52544" y="3739896"/>
            <a:ext cx="3438144" cy="150876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52544" y="3739896"/>
            <a:ext cx="64008" cy="1508760"/>
          </a:xfrm>
          <a:prstGeom prst="rect">
            <a:avLst/>
          </a:prstGeom>
          <a:solidFill>
            <a:srgbClr val="B94A48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53712" y="391363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94A48"/>
                </a:solidFill>
                <a:latin typeface="Avenir Next Condensed"/>
              </a:rPr>
              <a:t>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65192" y="3895344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Permission &amp; Policy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62856" y="4242816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B94A48"/>
                </a:solidFill>
                <a:latin typeface="Avenir Next Condensed"/>
              </a:rPr>
              <a:t>CC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28616" y="4233672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tool permission check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62856" y="4453128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B94A48"/>
                </a:solidFill>
                <a:latin typeface="Avenir Next Condensed"/>
              </a:rPr>
              <a:t>OC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28616" y="4443984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deny / allowlist / full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62856" y="4663440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B94A48"/>
                </a:solidFill>
                <a:latin typeface="Avenir Next Condensed"/>
              </a:rPr>
              <a:t>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28616" y="4654296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delegate to sandbox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62856" y="4873752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B94A48"/>
                </a:solidFill>
                <a:latin typeface="Avenir Next Condensed"/>
              </a:rPr>
              <a:t>HS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28616" y="4864608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command guards + approval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01583" y="3739896"/>
            <a:ext cx="3438144" cy="150876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101583" y="3739896"/>
            <a:ext cx="64008" cy="1508760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02752" y="391363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6FA6"/>
                </a:solidFill>
                <a:latin typeface="Avenir Next Condensed"/>
              </a:rPr>
              <a:t>06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14232" y="3895344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Verification &amp; Recovery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11896" y="4242816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E6FA6"/>
                </a:solidFill>
                <a:latin typeface="Avenir Next Condensed"/>
              </a:rPr>
              <a:t>CC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77656" y="4233672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Stop / tool hooks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11896" y="4453128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E6FA6"/>
                </a:solidFill>
                <a:latin typeface="Avenir Next Condensed"/>
              </a:rPr>
              <a:t>OC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77656" y="4443984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result / compact guards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11896" y="4663440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E6FA6"/>
                </a:solidFill>
                <a:latin typeface="Avenir Next Condensed"/>
              </a:rPr>
              <a:t>PI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77656" y="4654296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events + extensions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11896" y="4873752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E6FA6"/>
                </a:solidFill>
                <a:latin typeface="Avenir Next Condensed"/>
              </a:rPr>
              <a:t>HS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77656" y="4864608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verify hooks + recovery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" y="5934456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52B35"/>
                </a:solidFill>
                <a:latin typeface="PingFang SC"/>
              </a:rPr>
              <a:t>阅读方式：这一页定位“源码责任归属”；后续三页用经典问题横向比较不同实现如何取舍。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10  /  SOURCE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2B35"/>
                </a:solidFill>
                <a:latin typeface="PingFang SC"/>
              </a:rPr>
              <a:t>四个 Agent 如何处理 Agent Loop 的三个经典问题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70" b="0" i="0">
                <a:solidFill>
                  <a:srgbClr val="6E6A60"/>
                </a:solidFill>
                <a:latin typeface="PingFang SC"/>
              </a:rPr>
              <a:t>共性：模型无后续工具调用则结束。差异：谁拥有停止标准、重试预算与规划责任。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92224"/>
            <a:ext cx="1600200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901952"/>
            <a:ext cx="14356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B85C36"/>
                </a:solidFill>
                <a:latin typeface="Avenir Next Condensed"/>
              </a:rPr>
              <a:t>经典问题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0280" y="1792224"/>
            <a:ext cx="2212848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1901952"/>
            <a:ext cx="204825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2E6FA6"/>
                </a:solidFill>
                <a:latin typeface="Avenir Next Condensed"/>
              </a:rPr>
              <a:t>CLAUDE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62856" y="1792224"/>
            <a:ext cx="2212848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901952"/>
            <a:ext cx="204825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B85C36"/>
                </a:solidFill>
                <a:latin typeface="Avenir Next Condensed"/>
              </a:rPr>
              <a:t>OPENCLAW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85432" y="1792224"/>
            <a:ext cx="2212848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6872" y="1901952"/>
            <a:ext cx="204825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2E8657"/>
                </a:solidFill>
                <a:latin typeface="Avenir Next Condensed"/>
              </a:rPr>
              <a:t>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8008" y="1792224"/>
            <a:ext cx="2212848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9448" y="1901952"/>
            <a:ext cx="204825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765A9B"/>
                </a:solidFill>
                <a:latin typeface="Avenir Next Condensed"/>
              </a:rPr>
              <a:t>HERMES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304288"/>
            <a:ext cx="1600200" cy="1115568"/>
          </a:xfrm>
          <a:prstGeom prst="roundRect">
            <a:avLst/>
          </a:prstGeom>
          <a:solidFill>
            <a:srgbClr val="F7F1E4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459736"/>
            <a:ext cx="136245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52B35"/>
                </a:solidFill>
                <a:latin typeface="PingFang SC"/>
              </a:rPr>
              <a:t>停止标准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2871216"/>
            <a:ext cx="1362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6E6A60"/>
                </a:solidFill>
                <a:latin typeface="PingFang SC"/>
              </a:rPr>
              <a:t>完成、上限与中断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40280" y="2304288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40280" y="2304288"/>
            <a:ext cx="41148" cy="1115568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68296" y="2432304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6FA6"/>
                </a:solidFill>
                <a:latin typeface="Avenir Next Condense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9464" y="241401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tool-use 信号 + maxTurns、abort、Stop hook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68296" y="3108960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query.ts · queryLoop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62856" y="2304288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62856" y="2304288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2432304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41401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Pi Loop 结束；业务完成条件交给 workspace /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872" y="3108960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pi-embedded-runner/run.ts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85432" y="2304288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85432" y="2304288"/>
            <a:ext cx="41148" cy="1115568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13448" y="2432304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8657"/>
                </a:solidFill>
                <a:latin typeface="Avenir Next Condensed"/>
              </a:rPr>
              <a:t>~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14616" y="241401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最终文本 / 无工具调用即结束；不强制领域验收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3448" y="3108960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packages/agent/agent-loop.ts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08008" y="2304288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08008" y="2304288"/>
            <a:ext cx="41148" cy="1115568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36024" y="2432304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65A9B"/>
                </a:solidFill>
                <a:latin typeface="Avenir Next Condensed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241401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finish reason + 终止分支；verify nudge 可追加一轮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36024" y="3108960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conversation_loop.py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3529584"/>
            <a:ext cx="1600200" cy="1115568"/>
          </a:xfrm>
          <a:prstGeom prst="roundRect">
            <a:avLst/>
          </a:prstGeom>
          <a:solidFill>
            <a:srgbClr val="F7F1E4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" y="3685032"/>
            <a:ext cx="136245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52B35"/>
                </a:solidFill>
                <a:latin typeface="PingFang SC"/>
              </a:rPr>
              <a:t>无限 / 无效重试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" y="4096512"/>
            <a:ext cx="1362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6E6A60"/>
                </a:solidFill>
                <a:latin typeface="PingFang SC"/>
              </a:rPr>
              <a:t>失败分类、预算与恢复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40280" y="3529584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40280" y="3529584"/>
            <a:ext cx="41148" cy="1115568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68296" y="3657600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6FA6"/>
                </a:solidFill>
                <a:latin typeface="Avenir Next Condensed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9464" y="36393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maxTurns + fallback；413 压缩 / Stop hook 定向重试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68296" y="433425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query.ts · retry transitions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62856" y="3529584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62856" y="3529584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90872" y="3657600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2040" y="36393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继承 Pi；另有 compaction retry、tool-result guard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90872" y="433425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pi-embedded-runner/*guard*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85432" y="3529584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5432" y="3529584"/>
            <a:ext cx="41148" cy="1115568"/>
          </a:xfrm>
          <a:prstGeom prst="rect">
            <a:avLst/>
          </a:prstGeom>
          <a:solidFill>
            <a:srgbClr val="B94A48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3657600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94A48"/>
                </a:solidFill>
                <a:latin typeface="Avenir Next Condensed"/>
              </a:rPr>
              <a:t>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14616" y="36393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无“无进展”硬熔断；由宿主补充 task budget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13448" y="433425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packages/agent/agent-loop.ts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08008" y="3529584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08008" y="3529584"/>
            <a:ext cx="41148" cy="1115568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36024" y="3657600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65A9B"/>
                </a:solidFill>
                <a:latin typeface="Avenir Next Condensed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37192" y="36393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TurnRetryState + max_retries + 退避 / failover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36024" y="433425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conversation_loop.py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4754880"/>
            <a:ext cx="1600200" cy="1115568"/>
          </a:xfrm>
          <a:prstGeom prst="roundRect">
            <a:avLst/>
          </a:prstGeom>
          <a:solidFill>
            <a:srgbClr val="F7F1E4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944" y="4910328"/>
            <a:ext cx="136245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52B35"/>
                </a:solidFill>
                <a:latin typeface="PingFang SC"/>
              </a:rPr>
              <a:t>Planning &amp; Replanning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944" y="5321808"/>
            <a:ext cx="1362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6E6A60"/>
                </a:solidFill>
                <a:latin typeface="PingFang SC"/>
              </a:rPr>
              <a:t>计划表达、更新与证据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240280" y="4754880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240280" y="4754880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68296" y="4882896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69464" y="486460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Plan mode / Todo / Skill；模型依据结果自行重规划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68296" y="5559552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query.ts · permissionMode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62856" y="4754880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562856" y="4754880"/>
            <a:ext cx="41148" cy="1115568"/>
          </a:xfrm>
          <a:prstGeom prst="rect">
            <a:avLst/>
          </a:prstGeom>
          <a:solidFill>
            <a:srgbClr val="B94A48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90872" y="4882896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94A48"/>
                </a:solidFill>
                <a:latin typeface="Avenir Next Condensed"/>
              </a:rPr>
              <a:t>✕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92040" y="486460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无独立 planner；由 Pi prompt、Skill、workflow 承担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90872" y="5559552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embedded runner + workspace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85432" y="4754880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85432" y="4754880"/>
            <a:ext cx="41148" cy="1115568"/>
          </a:xfrm>
          <a:prstGeom prst="rect">
            <a:avLst/>
          </a:prstGeom>
          <a:solidFill>
            <a:srgbClr val="B94A48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13448" y="4882896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94A48"/>
                </a:solidFill>
                <a:latin typeface="Avenir Next Condensed"/>
              </a:rPr>
              <a:t>✕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14616" y="486460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core 刻意无规划意见；交给宿主和外部工具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13448" y="5559552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packages/agent/agent-loop.ts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208008" y="4754880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08008" y="4754880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336024" y="4882896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37192" y="486460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提示、记忆、Skill / 工作流承载；无强制里程碑协议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36024" y="5559552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conversation_loop.py + memory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5216" y="6108192"/>
            <a:ext cx="10607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A60"/>
                </a:solidFill>
                <a:latin typeface="Avenir Next Condensed"/>
              </a:rPr>
              <a:t>✓ 明确内建   ~ 部分覆盖 / 交给上层   ✕ 未见统一的一等机制   ·   结论基于当前源码快照。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11  /  SOURCE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2B35"/>
                </a:solidFill>
                <a:latin typeface="PingFang SC"/>
              </a:rPr>
              <a:t>四个 Agent 如何处理 Context &amp; Prompt 的三个经典问题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70" b="0" i="0">
                <a:solidFill>
                  <a:srgbClr val="6E6A60"/>
                </a:solidFill>
                <a:latin typeface="PingFang SC"/>
              </a:rPr>
              <a:t>上下文工程决定模型能否保留目标与证据，并在 token 受限时持续推进长任务。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92224"/>
            <a:ext cx="1600200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901952"/>
            <a:ext cx="14356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B85C36"/>
                </a:solidFill>
                <a:latin typeface="Avenir Next Condensed"/>
              </a:rPr>
              <a:t>经典问题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0280" y="1792224"/>
            <a:ext cx="2212848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1901952"/>
            <a:ext cx="204825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2E6FA6"/>
                </a:solidFill>
                <a:latin typeface="Avenir Next Condensed"/>
              </a:rPr>
              <a:t>CLAUDE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62856" y="1792224"/>
            <a:ext cx="2212848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901952"/>
            <a:ext cx="204825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B85C36"/>
                </a:solidFill>
                <a:latin typeface="Avenir Next Condensed"/>
              </a:rPr>
              <a:t>OPENCLAW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85432" y="1792224"/>
            <a:ext cx="2212848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6872" y="1901952"/>
            <a:ext cx="204825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2E8657"/>
                </a:solidFill>
                <a:latin typeface="Avenir Next Condensed"/>
              </a:rPr>
              <a:t>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8008" y="1792224"/>
            <a:ext cx="2212848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9448" y="1901952"/>
            <a:ext cx="204825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765A9B"/>
                </a:solidFill>
                <a:latin typeface="Avenir Next Condensed"/>
              </a:rPr>
              <a:t>HERMES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304288"/>
            <a:ext cx="1600200" cy="1115568"/>
          </a:xfrm>
          <a:prstGeom prst="roundRect">
            <a:avLst/>
          </a:prstGeom>
          <a:solidFill>
            <a:srgbClr val="F7F1E4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459736"/>
            <a:ext cx="136245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52B35"/>
                </a:solidFill>
                <a:latin typeface="PingFang SC"/>
              </a:rPr>
              <a:t>超长输入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2871216"/>
            <a:ext cx="1362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6E6A60"/>
                </a:solidFill>
                <a:latin typeface="PingFang SC"/>
              </a:rPr>
              <a:t>截断、重读与 token 控制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40280" y="2304288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40280" y="2304288"/>
            <a:ext cx="41148" cy="1115568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68296" y="2432304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6FA6"/>
                </a:solidFill>
                <a:latin typeface="Avenir Next Condense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9464" y="241401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micro / auto compact；413 时 strip、压缩后重试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68296" y="3108960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services/compact · query.ts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62856" y="2304288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62856" y="2304288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2432304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41401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Pi 压缩 + OpenClaw overflow / 结果链 guard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872" y="3108960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pi-embedded-runner/compact*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85432" y="2304288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85432" y="2304288"/>
            <a:ext cx="41148" cy="1115568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13448" y="2432304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8657"/>
                </a:solidFill>
                <a:latin typeface="Avenir Next Condensed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14616" y="241401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JSONL session；自动 compaction 与会话重建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3448" y="3108960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agent-session.ts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08008" y="2304288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08008" y="2304288"/>
            <a:ext cx="41148" cy="1115568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36024" y="2432304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65A9B"/>
                </a:solidFill>
                <a:latin typeface="Avenir Next Condensed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241401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prompt parts + compressor；chunked retry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36024" y="3108960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prompt_builder.py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3529584"/>
            <a:ext cx="1600200" cy="1115568"/>
          </a:xfrm>
          <a:prstGeom prst="roundRect">
            <a:avLst/>
          </a:prstGeom>
          <a:solidFill>
            <a:srgbClr val="F7F1E4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" y="3685032"/>
            <a:ext cx="136245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52B35"/>
                </a:solidFill>
                <a:latin typeface="PingFang SC"/>
              </a:rPr>
              <a:t>Long-horizon task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" y="4096512"/>
            <a:ext cx="1362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6E6A60"/>
                </a:solidFill>
                <a:latin typeface="PingFang SC"/>
              </a:rPr>
              <a:t>目标与进度持续可见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40280" y="3529584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40280" y="3529584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68296" y="3657600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9464" y="36393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SessionMemory、CLAUDE.md、Skill / Todo；无强制 task state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68296" y="433425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SessionMemory · skills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62856" y="3529584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62856" y="3529584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90872" y="3657600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2040" y="36393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workspace、渠道会话、cron、Skill；由上层编排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90872" y="433425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agents/skills/workspace.ts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85432" y="3529584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5432" y="3529584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3657600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14616" y="36393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parentId + JSONL 可续接；目标结构由宿主定义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13448" y="433425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agent-session.ts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08008" y="3529584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08008" y="3529584"/>
            <a:ext cx="41148" cy="1115568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36024" y="3657600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65A9B"/>
                </a:solidFill>
                <a:latin typeface="Avenir Next Condensed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37192" y="36393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持久记忆 + checkpoint，长程恢复是一等能力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36024" y="433425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memory/* · checkpoint*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4754880"/>
            <a:ext cx="1600200" cy="1115568"/>
          </a:xfrm>
          <a:prstGeom prst="roundRect">
            <a:avLst/>
          </a:prstGeom>
          <a:solidFill>
            <a:srgbClr val="F7F1E4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944" y="4910328"/>
            <a:ext cx="136245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52B35"/>
                </a:solidFill>
                <a:latin typeface="PingFang SC"/>
              </a:rPr>
              <a:t>Context Compression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944" y="5321808"/>
            <a:ext cx="1362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6E6A60"/>
                </a:solidFill>
                <a:latin typeface="PingFang SC"/>
              </a:rPr>
              <a:t>压缩保真、可恢复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240280" y="4754880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240280" y="4754880"/>
            <a:ext cx="41148" cy="1115568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68296" y="4882896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6FA6"/>
                </a:solidFill>
                <a:latin typeface="Avenir Next Condensed"/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69464" y="486460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micro / auto 两级压缩，主动与被动路径分开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68296" y="5559552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services/compact/compact.ts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62856" y="4754880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562856" y="4754880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90872" y="4882896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92040" y="486460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独立 handler + retry；保护 parentId / tool result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90872" y="5559552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pi-embedded-runner/compact*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85432" y="4754880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85432" y="4754880"/>
            <a:ext cx="41148" cy="1115568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13448" y="4882896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8657"/>
                </a:solidFill>
                <a:latin typeface="Avenir Next Condensed"/>
              </a:rP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14616" y="486460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runtime / Coding Agent 均有 transcript compaction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13448" y="5559552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agent-loop.ts · agent-session.ts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208008" y="4754880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08008" y="4754880"/>
            <a:ext cx="41148" cy="1115568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336024" y="4882896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65A9B"/>
                </a:solidFill>
                <a:latin typeface="Avenir Next Condensed"/>
              </a:rPr>
              <a:t>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37192" y="486460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压缩后重建请求；memory compressor 协作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36024" y="5559552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prompt_builder.py · loop.py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5216" y="6108192"/>
            <a:ext cx="10607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A60"/>
                </a:solidFill>
                <a:latin typeface="Avenir Next Condensed"/>
              </a:rPr>
              <a:t>✓ 明确内建   ~ 部分覆盖 / 交给上层   ✕ 未见统一的一等机制   ·   结论基于当前源码快照。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12  /  SOURCE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2B35"/>
                </a:solidFill>
                <a:latin typeface="PingFang SC"/>
              </a:rPr>
              <a:t>四个 Agent 如何处理 State &amp; Memory 的三个经典问题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70" b="0" i="0">
                <a:solidFill>
                  <a:srgbClr val="6E6A60"/>
                </a:solidFill>
                <a:latin typeface="PingFang SC"/>
              </a:rPr>
              <a:t>长程任务的核心不是“记得更多”，而是状态可信、恢复不重放、并发不互相污染。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92224"/>
            <a:ext cx="1600200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901952"/>
            <a:ext cx="14356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B85C36"/>
                </a:solidFill>
                <a:latin typeface="Avenir Next Condensed"/>
              </a:rPr>
              <a:t>经典问题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0280" y="1792224"/>
            <a:ext cx="2212848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1901952"/>
            <a:ext cx="204825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2E6FA6"/>
                </a:solidFill>
                <a:latin typeface="Avenir Next Condensed"/>
              </a:rPr>
              <a:t>CLAUDE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62856" y="1792224"/>
            <a:ext cx="2212848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901952"/>
            <a:ext cx="204825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B85C36"/>
                </a:solidFill>
                <a:latin typeface="Avenir Next Condensed"/>
              </a:rPr>
              <a:t>OPENCLAW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85432" y="1792224"/>
            <a:ext cx="2212848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6872" y="1901952"/>
            <a:ext cx="204825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2E8657"/>
                </a:solidFill>
                <a:latin typeface="Avenir Next Condensed"/>
              </a:rPr>
              <a:t>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8008" y="1792224"/>
            <a:ext cx="2212848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9448" y="1901952"/>
            <a:ext cx="204825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765A9B"/>
                </a:solidFill>
                <a:latin typeface="Avenir Next Condensed"/>
              </a:rPr>
              <a:t>HERMES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304288"/>
            <a:ext cx="1600200" cy="1115568"/>
          </a:xfrm>
          <a:prstGeom prst="roundRect">
            <a:avLst/>
          </a:prstGeom>
          <a:solidFill>
            <a:srgbClr val="F7F1E4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459736"/>
            <a:ext cx="136245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52B35"/>
                </a:solidFill>
                <a:latin typeface="PingFang SC"/>
              </a:rPr>
              <a:t>崩溃恢复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2871216"/>
            <a:ext cx="1362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6E6A60"/>
                </a:solidFill>
                <a:latin typeface="PingFang SC"/>
              </a:rPr>
              <a:t>恢复后不重复执行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40280" y="2304288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40280" y="2304288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68296" y="2432304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9464" y="241401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会话续接为主；未见通用外部 action checkpoint 协议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68296" y="3108960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SessionMemory/*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62856" y="2304288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62856" y="2304288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2432304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41401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parentId、compaction、tool-result guard 维护会话链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872" y="3108960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pi-embedded-runner/session*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85432" y="2304288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85432" y="2304288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13448" y="2432304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14616" y="241401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JSONL 可续接；真实外部状态由宿主重新观察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3448" y="3108960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coding-agent/session*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08008" y="2304288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08008" y="2304288"/>
            <a:ext cx="41148" cy="1115568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36024" y="2432304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65A9B"/>
                </a:solidFill>
                <a:latin typeface="Avenir Next Condensed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241401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checkpoint manager + memory provider 支持长期恢复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36024" y="3108960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checkpoint* · memory/*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3529584"/>
            <a:ext cx="1600200" cy="1115568"/>
          </a:xfrm>
          <a:prstGeom prst="roundRect">
            <a:avLst/>
          </a:prstGeom>
          <a:solidFill>
            <a:srgbClr val="F7F1E4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" y="3685032"/>
            <a:ext cx="136245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52B35"/>
                </a:solidFill>
                <a:latin typeface="PingFang SC"/>
              </a:rPr>
              <a:t>陈旧 / 污染记忆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" y="4096512"/>
            <a:ext cx="1362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6E6A60"/>
                </a:solidFill>
                <a:latin typeface="PingFang SC"/>
              </a:rPr>
              <a:t>来源、作用域与淘汰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40280" y="3529584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40280" y="3529584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68296" y="3657600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9464" y="36393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项目规则 / 会话记忆分层；无统一 TTL / 置信度模型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68296" y="433425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claudemd* · SessionMemory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62856" y="3529584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62856" y="3529584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90872" y="3657600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2040" y="36393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workspace snapshot 稳定一次 run；长期策略偏上层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90872" y="433425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agents/skills/workspace.ts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85432" y="3529584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5432" y="3529584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3657600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14616" y="36393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JSONL / parentId 保存历史；不做事实冲突消解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13448" y="433425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agent-session.ts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08008" y="3529584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08008" y="3529584"/>
            <a:ext cx="41148" cy="1115568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36024" y="3657600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65A9B"/>
                </a:solidFill>
                <a:latin typeface="Avenir Next Condensed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37192" y="36393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memory provider、compressor、learning graph 独立实现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36024" y="433425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memory/* · learning_graph.py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4754880"/>
            <a:ext cx="1600200" cy="1115568"/>
          </a:xfrm>
          <a:prstGeom prst="roundRect">
            <a:avLst/>
          </a:prstGeom>
          <a:solidFill>
            <a:srgbClr val="F7F1E4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944" y="4910328"/>
            <a:ext cx="136245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52B35"/>
                </a:solidFill>
                <a:latin typeface="PingFang SC"/>
              </a:rPr>
              <a:t>多 Agent / 多渠道冲突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944" y="5321808"/>
            <a:ext cx="1362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6E6A60"/>
                </a:solidFill>
                <a:latin typeface="PingFang SC"/>
              </a:rPr>
              <a:t>所有权、版本与并发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240280" y="4754880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240280" y="4754880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68296" y="4882896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69464" y="486460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单 CLI 会话优先；无跨 Agent 状态协调层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68296" y="5559552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tools/Tool.ts · session*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62856" y="4754880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562856" y="4754880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90872" y="4882896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92040" y="486460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Gateway 编排渠道、会话与 node host 生命周期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90872" y="5559552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gateway/* · agents/*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85432" y="4754880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85432" y="4754880"/>
            <a:ext cx="41148" cy="1115568"/>
          </a:xfrm>
          <a:prstGeom prst="rect">
            <a:avLst/>
          </a:prstGeom>
          <a:solidFill>
            <a:srgbClr val="B94A48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13448" y="4882896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94A48"/>
                </a:solidFill>
                <a:latin typeface="Avenir Next Condensed"/>
              </a:rPr>
              <a:t>✕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14616" y="486460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单 Agent runtime；multi-agent ownership 留给宿主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13448" y="5559552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packages/agent/*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208008" y="4754880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08008" y="4754880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336024" y="4882896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37192" y="486460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支持子 Agent / 多渠道；无通用资源锁 / merge 协议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36024" y="5559552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agent/* · gateway/*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5216" y="6108192"/>
            <a:ext cx="10607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A60"/>
                </a:solidFill>
                <a:latin typeface="Avenir Next Condensed"/>
              </a:rPr>
              <a:t>✓ 明确内建   ~ 部分覆盖 / 交给上层   ✕ 未见统一的一等机制   ·   结论基于当前源码快照。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13  /  OUR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2B35"/>
                </a:solidFill>
                <a:latin typeface="PingFang SC"/>
              </a:rPr>
              <a:t>agent_biz：从 Claude Code 出发，在真实业务环境中打磨的终端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30" b="0" i="0">
                <a:solidFill>
                  <a:srgbClr val="6E6A60"/>
                </a:solidFill>
                <a:latin typeface="PingFang SC"/>
              </a:rPr>
              <a:t>主要参考 Claude Code 的产品体验与 Agent Loop；辅参考 OpenClaw、Pi、Hermes 的工程拆分；由 Claude Code vibe coding 起步，并在 Oceanus 实践中持续修改。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856231"/>
            <a:ext cx="3438144" cy="112471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856231"/>
            <a:ext cx="54864" cy="1124712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029968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6FA6"/>
                </a:solidFill>
                <a:latin typeface="Avenir Next Condensed"/>
              </a:rPr>
              <a:t>主要参考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295144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596896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A60"/>
                </a:solidFill>
                <a:latin typeface="PingFang SC"/>
              </a:rPr>
              <a:t>终端交互、工具调用、编码 Agent 体验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856231"/>
            <a:ext cx="3438144" cy="112471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2544" y="1856231"/>
            <a:ext cx="54864" cy="1124712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029968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85C36"/>
                </a:solidFill>
                <a:latin typeface="Avenir Next Condensed"/>
              </a:rPr>
              <a:t>辅助借鉴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295144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OpenClaw / Pi / Hermes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596896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A60"/>
                </a:solidFill>
                <a:latin typeface="PingFang SC"/>
              </a:rPr>
              <a:t>编排、可复用 runtime、记忆与恢复思路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856231"/>
            <a:ext cx="3438144" cy="112471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856231"/>
            <a:ext cx="54864" cy="1124712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029968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8657"/>
                </a:solidFill>
                <a:latin typeface="Avenir Next Condensed"/>
              </a:rPr>
              <a:t>实践打磨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295144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agent_biz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596896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A60"/>
                </a:solidFill>
                <a:latin typeface="PingFang SC"/>
              </a:rPr>
              <a:t>在业务任务与 Oceanus 环境中持续调优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331012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6E6A60"/>
                </a:solidFill>
                <a:latin typeface="PingFang SC"/>
              </a:rPr>
              <a:t>当前工作区代码量对比（线性尺度；TS / TSX / JS / JSX / Python；含项目测试与支撑代码，非“核心逻辑复杂度”结论）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776472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B35"/>
                </a:solidFill>
                <a:latin typeface="PingFang SC"/>
              </a:rPr>
              <a:t>agent_biz (Qfin)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40280" y="3675887"/>
            <a:ext cx="6080760" cy="274320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240280" y="3675887"/>
            <a:ext cx="22738" cy="274320"/>
          </a:xfrm>
          <a:prstGeom prst="round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3749039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60" b="1" i="0">
                <a:solidFill>
                  <a:srgbClr val="2E8657"/>
                </a:solidFill>
                <a:latin typeface="Avenir Next Condensed"/>
              </a:rPr>
              <a:t>6,048 LOC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76104" y="3749039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E6A60"/>
                </a:solidFill>
                <a:latin typeface="Avenir Next Condensed"/>
              </a:rPr>
              <a:t>1×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206240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B35"/>
                </a:solidFill>
                <a:latin typeface="PingFang SC"/>
              </a:rPr>
              <a:t>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40280" y="4105655"/>
            <a:ext cx="6080760" cy="274320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40280" y="4105655"/>
            <a:ext cx="817674" cy="274320"/>
          </a:xfrm>
          <a:prstGeom prst="round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85632" y="4178807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60" b="1" i="0">
                <a:solidFill>
                  <a:srgbClr val="2E8657"/>
                </a:solidFill>
                <a:latin typeface="Avenir Next Condensed"/>
              </a:rPr>
              <a:t>217,482 LOC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4178807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E6A60"/>
                </a:solidFill>
                <a:latin typeface="Avenir Next Condensed"/>
              </a:rPr>
              <a:t>36×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636007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B35"/>
                </a:solidFill>
                <a:latin typeface="PingFang SC"/>
              </a:rPr>
              <a:t>Claude Code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40280" y="4535423"/>
            <a:ext cx="6080760" cy="274320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240280" y="4535423"/>
            <a:ext cx="1927560" cy="274320"/>
          </a:xfrm>
          <a:prstGeom prst="round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85632" y="4608575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60" b="1" i="0">
                <a:solidFill>
                  <a:srgbClr val="2E6FA6"/>
                </a:solidFill>
                <a:latin typeface="Avenir Next Condensed"/>
              </a:rPr>
              <a:t>512,685 LOC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6104" y="4608575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E6A60"/>
                </a:solidFill>
                <a:latin typeface="Avenir Next Condensed"/>
              </a:rPr>
              <a:t>85×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065776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B35"/>
                </a:solidFill>
                <a:latin typeface="PingFang SC"/>
              </a:rPr>
              <a:t>OpenClaw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40280" y="4965192"/>
            <a:ext cx="6080760" cy="274320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240280" y="4965192"/>
            <a:ext cx="1989212" cy="274320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85632" y="5038344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60" b="1" i="0">
                <a:solidFill>
                  <a:srgbClr val="B85C36"/>
                </a:solidFill>
                <a:latin typeface="Avenir Next Condensed"/>
              </a:rPr>
              <a:t>529,083 LOC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76104" y="5038344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E6A60"/>
                </a:solidFill>
                <a:latin typeface="Avenir Next Condensed"/>
              </a:rPr>
              <a:t>87×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5495544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B35"/>
                </a:solidFill>
                <a:latin typeface="PingFang SC"/>
              </a:rPr>
              <a:t>Hermes Agent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240280" y="5394959"/>
            <a:ext cx="6080760" cy="274320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240280" y="5394959"/>
            <a:ext cx="6080760" cy="274320"/>
          </a:xfrm>
          <a:prstGeom prst="round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85632" y="5468112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60" b="1" i="0">
                <a:solidFill>
                  <a:srgbClr val="765A9B"/>
                </a:solidFill>
                <a:latin typeface="Avenir Next Condensed"/>
              </a:rPr>
              <a:t>1,617,337 LOC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76104" y="5468112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E6A60"/>
                </a:solidFill>
                <a:latin typeface="Avenir Next Condensed"/>
              </a:rPr>
              <a:t>267×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" y="5971032"/>
            <a:ext cx="10698480" cy="292608"/>
          </a:xfrm>
          <a:prstGeom prst="roundRect">
            <a:avLst/>
          </a:prstGeom>
          <a:solidFill>
            <a:srgbClr val="EDF3EF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6044184"/>
            <a:ext cx="1025956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40" b="1" i="0">
                <a:solidFill>
                  <a:srgbClr val="2E8657"/>
                </a:solidFill>
                <a:latin typeface="PingFang SC"/>
              </a:rPr>
              <a:t>解读：agent_biz 用约 6K 行代码保留可运行、可改造、可审查的核心闭环；复杂能力按业务需要逐步补齐，而非一次复制成熟产品的全部体量。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14  /  OUR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2B35"/>
                </a:solidFill>
                <a:latin typeface="PingFang SC"/>
              </a:rPr>
              <a:t>agent_biz 执行界面：直接在 Oceanus 内部任务环境中工作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60" b="0" i="0">
                <a:solidFill>
                  <a:srgbClr val="6E6A60"/>
                </a:solidFill>
                <a:latin typeface="PingFang SC"/>
              </a:rPr>
              <a:t>开源地址：gitlab.daikuan.qihoo.net/biz-model/agent_biz  ·  读代码、调用工具、执行命令、汇总结果。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66543" y="1618488"/>
            <a:ext cx="8055864" cy="4306824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-runtime.png"/>
          <p:cNvPicPr>
            <a:picLocks noChangeAspect="1"/>
          </p:cNvPicPr>
          <p:nvPr/>
        </p:nvPicPr>
        <p:blipFill>
          <a:blip r:embed="rId2"/>
          <a:srcRect t="95" b="95"/>
          <a:stretch>
            <a:fillRect/>
          </a:stretch>
        </p:blipFill>
        <p:spPr>
          <a:xfrm>
            <a:off x="2139696" y="1691640"/>
            <a:ext cx="7909560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3504" y="5980176"/>
            <a:ext cx="10954512" cy="256032"/>
          </a:xfrm>
          <a:prstGeom prst="roundRect">
            <a:avLst/>
          </a:prstGeom>
          <a:solidFill>
            <a:srgbClr val="EEE7D6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6044184"/>
            <a:ext cx="106253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0" b="1" i="0">
                <a:solidFill>
                  <a:srgbClr val="252B35"/>
                </a:solidFill>
                <a:latin typeface="PingFang SC"/>
              </a:rPr>
              <a:t>核心价值：把 Agent 放到业务现场，让执行过程、工具调用和结果证据可见、可复核。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15  /  OUR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2B35"/>
                </a:solidFill>
                <a:latin typeface="PingFang SC"/>
              </a:rPr>
              <a:t>agent_biz 个性化修改：用户可以直接调整 Agent 行为与性能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60" b="0" i="0">
                <a:solidFill>
                  <a:srgbClr val="6E6A60"/>
                </a:solidFill>
                <a:latin typeface="PingFang SC"/>
              </a:rPr>
              <a:t>模型、提示、工具、输出展示与行为逻辑均可通过源码和配置直接修改；调整过程本身也可被 Agent 协助完成。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66543" y="1618488"/>
            <a:ext cx="8055864" cy="4306824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-customization.png"/>
          <p:cNvPicPr>
            <a:picLocks noChangeAspect="1"/>
          </p:cNvPicPr>
          <p:nvPr/>
        </p:nvPicPr>
        <p:blipFill>
          <a:blip r:embed="rId2"/>
          <a:srcRect t="2914" b="2914"/>
          <a:stretch>
            <a:fillRect/>
          </a:stretch>
        </p:blipFill>
        <p:spPr>
          <a:xfrm>
            <a:off x="2139696" y="1691640"/>
            <a:ext cx="7909560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3504" y="5980176"/>
            <a:ext cx="10954512" cy="256032"/>
          </a:xfrm>
          <a:prstGeom prst="roundRect">
            <a:avLst/>
          </a:prstGeom>
          <a:solidFill>
            <a:srgbClr val="EEE7D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6044184"/>
            <a:ext cx="106253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0" b="1" i="0">
                <a:solidFill>
                  <a:srgbClr val="252B35"/>
                </a:solidFill>
                <a:latin typeface="PingFang SC"/>
              </a:rPr>
              <a:t>工程定位：透明、可审计的内部 Agent，降低对闭源云端工具的黑盒依赖与信息外发顾虑。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16  / 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2B35"/>
                </a:solidFill>
                <a:latin typeface="PingFang SC"/>
              </a:rPr>
              <a:t>GAIA Benchmark：测的不是“会不会答题”，而是 Agent 能不能完成真实任务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70" b="0" i="0">
                <a:solidFill>
                  <a:srgbClr val="6E6A60"/>
                </a:solidFill>
                <a:latin typeface="PingFang SC"/>
              </a:rPr>
              <a:t>GAIA（General AI Assistants）由 Mialon 等在 ICLR 2024 发布：466 道人工设计题，面向推理、多模态、网页检索与工具使用。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965960"/>
            <a:ext cx="5212080" cy="107899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965960"/>
            <a:ext cx="64008" cy="1078992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16712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B85C36"/>
                </a:solidFill>
                <a:latin typeface="PingFang SC"/>
              </a:rPr>
              <a:t>多步推理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32888"/>
            <a:ext cx="43342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0" b="0" i="0">
                <a:solidFill>
                  <a:srgbClr val="6E6A60"/>
                </a:solidFill>
                <a:latin typeface="PingFang SC"/>
              </a:rPr>
              <a:t>拆解条件、计算、交叉验证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965960"/>
            <a:ext cx="5212080" cy="107899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63056" y="1965960"/>
            <a:ext cx="64008" cy="1078992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6712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E6FA6"/>
                </a:solidFill>
                <a:latin typeface="PingFang SC"/>
              </a:rPr>
              <a:t>外部信息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32888"/>
            <a:ext cx="43342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0" b="0" i="0">
                <a:solidFill>
                  <a:srgbClr val="6E6A60"/>
                </a:solidFill>
                <a:latin typeface="PingFang SC"/>
              </a:rPr>
              <a:t>浏览、检索、阅读网页与文档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383280"/>
            <a:ext cx="5212080" cy="107899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3383280"/>
            <a:ext cx="64008" cy="1078992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58444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E8657"/>
                </a:solidFill>
                <a:latin typeface="PingFang SC"/>
              </a:rPr>
              <a:t>工具 / 多模态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950208"/>
            <a:ext cx="43342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0" b="0" i="0">
                <a:solidFill>
                  <a:srgbClr val="6E6A60"/>
                </a:solidFill>
                <a:latin typeface="PingFang SC"/>
              </a:rPr>
              <a:t>文件、图像、视频、代码和命令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3383280"/>
            <a:ext cx="5212080" cy="107899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3056" y="3383280"/>
            <a:ext cx="64008" cy="1078992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58444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765A9B"/>
                </a:solidFill>
                <a:latin typeface="PingFang SC"/>
              </a:rPr>
              <a:t>精确交付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50208"/>
            <a:ext cx="43342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0" b="0" i="0">
                <a:solidFill>
                  <a:srgbClr val="6E6A60"/>
                </a:solidFill>
                <a:latin typeface="PingFang SC"/>
              </a:rPr>
              <a:t>遵守格式、单位、答案粒度与约束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" y="5074920"/>
            <a:ext cx="10698480" cy="749808"/>
          </a:xfrm>
          <a:prstGeom prst="round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5285232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为什么适合终端 AI Agent？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2384" y="5285232"/>
            <a:ext cx="7635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70" b="0" i="0">
                <a:solidFill>
                  <a:srgbClr val="6E6A60"/>
                </a:solidFill>
                <a:latin typeface="PingFang SC"/>
              </a:rPr>
              <a:t>它要求 Agent 把“模型推理”闭合成“检索 → 工具执行 → 结果核验 → 精确回答”的端到端流程。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108192"/>
            <a:ext cx="10424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A60"/>
                </a:solidFill>
                <a:latin typeface="Avenir Next Condensed"/>
              </a:rPr>
              <a:t>来源：GAIA: A Benchmark for General AI Assistants（ICLR 2024 / arXiv:2311.12983）。本次仅选取 Level 1 + 2 的 30 题样本做本地对照。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17  /  EVALUATION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2B35"/>
                </a:solidFill>
                <a:latin typeface="PingFang SC"/>
              </a:rPr>
              <a:t>先把比较边界说清楚：这里既在比较模型，也在验证 Agent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70" b="0" i="0">
                <a:solidFill>
                  <a:srgbClr val="6E6A60"/>
                </a:solidFill>
                <a:latin typeface="PingFang SC"/>
              </a:rPr>
              <a:t>所有结果来自本次 GAIA 运行：同一 30 道 Level 1 + 2 题、同一 quasi-exact-match 评分口径；不是通用排行榜。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874519"/>
            <a:ext cx="5230368" cy="324612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874519"/>
            <a:ext cx="73152" cy="3246120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13055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E6FA6"/>
                </a:solidFill>
                <a:latin typeface="PingFang SC"/>
              </a:rPr>
              <a:t>对照组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8716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252B35"/>
                </a:solidFill>
                <a:latin typeface="PingFang SC"/>
              </a:rPr>
              <a:t>Claude Code（claudecode）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953512"/>
            <a:ext cx="4160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6A60"/>
                </a:solidFill>
                <a:latin typeface="PingFang SC"/>
              </a:rPr>
              <a:t>模型：Claude Sonnet 5
模式：直接推理 / 独立运行
结果：19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61104"/>
            <a:ext cx="41879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B35"/>
                </a:solidFill>
                <a:latin typeface="PingFang SC"/>
              </a:rPr>
              <a:t>它是一个完整的产品型 CLI Agent，对照的是“成熟 Harness + 特定模型”的整体体验。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874519"/>
            <a:ext cx="5230368" cy="324612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71616" y="1874519"/>
            <a:ext cx="73152" cy="3246120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13055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E8657"/>
                </a:solidFill>
                <a:latin typeface="PingFang SC"/>
              </a:rPr>
              <a:t>实验组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48716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252B35"/>
                </a:solidFill>
                <a:latin typeface="PingFang SC"/>
              </a:rPr>
              <a:t>agent_biz（同一 Agent 框架）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953512"/>
            <a:ext cx="433425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6A60"/>
                </a:solidFill>
                <a:latin typeface="PingFang SC"/>
              </a:rPr>
              <a:t>模型：glm-5.2 / doubao-turbo-2.1 /
deepseek-v4-pro / deepseek-flash / doubao-mini-2.0
方式：固定框架，只切换模型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4261104"/>
            <a:ext cx="418795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B35"/>
                </a:solidFill>
                <a:latin typeface="PingFang SC"/>
              </a:rPr>
              <a:t>因此：实验组内部的分差主要反映模型与服务稳定性；与 Claude Code 的比较反映“产品 Harness + 模型”的整体差异。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5413248"/>
            <a:ext cx="10698480" cy="475488"/>
          </a:xfrm>
          <a:prstGeom prst="roundRect">
            <a:avLst/>
          </a:prstGeom>
          <a:solidFill>
            <a:srgbClr val="F1E7D2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559552"/>
            <a:ext cx="10195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90" b="1" i="0">
                <a:solidFill>
                  <a:srgbClr val="B85C36"/>
                </a:solidFill>
                <a:latin typeface="PingFang SC"/>
              </a:rPr>
              <a:t>解释原则：不要把 agent_biz 内不同模型的结果差异误归因为框架能力；也不要把 Claude Code 的单次结果泛化为所有 Claude 模型。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18  /  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2B35"/>
                </a:solidFill>
                <a:latin typeface="PingFang SC"/>
              </a:rPr>
              <a:t>GAIA 样本严格口径：Claude Code 与 doubao-turbo-2.1 并列第一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6A60"/>
                </a:solidFill>
                <a:latin typeface="PingFang SC"/>
              </a:rPr>
              <a:t>严格口径：28 道可比较题；timeout 与 leak-tainted 正确答案均按错误计分。它衡量“能稳定产出可信答案”的端到端能力。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93392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252B35"/>
                </a:solidFill>
                <a:latin typeface="PingFang SC"/>
              </a:rPr>
              <a:t>Claude Code · Sonnet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13632" y="1901952"/>
            <a:ext cx="5715000" cy="347472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13632" y="1901952"/>
            <a:ext cx="3880485" cy="347472"/>
          </a:xfrm>
          <a:prstGeom prst="round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38944" y="1975104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70" b="1" i="0">
                <a:solidFill>
                  <a:srgbClr val="2E6FA6"/>
                </a:solidFill>
                <a:latin typeface="Avenir Next Condensed"/>
              </a:rPr>
              <a:t>67.9%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88752" y="1993392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18/28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60320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252B35"/>
                </a:solidFill>
                <a:latin typeface="PingFang SC"/>
              </a:rPr>
              <a:t>agent_biz · doubao-turbo-2.1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13632" y="2468880"/>
            <a:ext cx="5715000" cy="347472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13632" y="2468880"/>
            <a:ext cx="3880485" cy="347472"/>
          </a:xfrm>
          <a:prstGeom prst="round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38944" y="2542032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70" b="1" i="0">
                <a:solidFill>
                  <a:srgbClr val="2E8657"/>
                </a:solidFill>
                <a:latin typeface="Avenir Next Condensed"/>
              </a:rPr>
              <a:t>67.9%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88752" y="2560320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18/28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127248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252B35"/>
                </a:solidFill>
                <a:latin typeface="PingFang SC"/>
              </a:rPr>
              <a:t>agent_biz · glm-5.2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13632" y="3035808"/>
            <a:ext cx="5715000" cy="347472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13632" y="3035808"/>
            <a:ext cx="3674745" cy="347472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38944" y="310896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70" b="1" i="0">
                <a:solidFill>
                  <a:srgbClr val="B85C36"/>
                </a:solidFill>
                <a:latin typeface="Avenir Next Condensed"/>
              </a:rPr>
              <a:t>64.3%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88752" y="3127248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18/28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694176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252B35"/>
                </a:solidFill>
                <a:latin typeface="PingFang SC"/>
              </a:rPr>
              <a:t>agent_biz · deepseek-v4-pro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13632" y="3602736"/>
            <a:ext cx="5715000" cy="347472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913632" y="3602736"/>
            <a:ext cx="3469005" cy="347472"/>
          </a:xfrm>
          <a:prstGeom prst="round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38944" y="3675887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70" b="1" i="0">
                <a:solidFill>
                  <a:srgbClr val="2E8657"/>
                </a:solidFill>
                <a:latin typeface="Avenir Next Condensed"/>
              </a:rPr>
              <a:t>60.7%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88752" y="3694176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18/28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261104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252B35"/>
                </a:solidFill>
                <a:latin typeface="PingFang SC"/>
              </a:rPr>
              <a:t>agent_biz · deepseek-flash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13632" y="4169664"/>
            <a:ext cx="5715000" cy="347472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913632" y="4169664"/>
            <a:ext cx="3263265" cy="347472"/>
          </a:xfrm>
          <a:prstGeom prst="roundRect">
            <a:avLst/>
          </a:prstGeom>
          <a:solidFill>
            <a:srgbClr val="0E8F8F"/>
          </a:solidFill>
          <a:ln>
            <a:solidFill>
              <a:srgbClr val="0E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38944" y="4242816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70" b="1" i="0">
                <a:solidFill>
                  <a:srgbClr val="0E8F8F"/>
                </a:solidFill>
                <a:latin typeface="Avenir Next Condensed"/>
              </a:rPr>
              <a:t>57.1%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88752" y="4261104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18/28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828031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252B35"/>
                </a:solidFill>
                <a:latin typeface="PingFang SC"/>
              </a:rPr>
              <a:t>agent_biz · doubao-mini-2.0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13632" y="4736592"/>
            <a:ext cx="5715000" cy="347472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913632" y="4736592"/>
            <a:ext cx="2245995" cy="347472"/>
          </a:xfrm>
          <a:prstGeom prst="round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38944" y="4809744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70" b="1" i="0">
                <a:solidFill>
                  <a:srgbClr val="765A9B"/>
                </a:solidFill>
                <a:latin typeface="Avenir Next Condensed"/>
              </a:rPr>
              <a:t>39.3%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88752" y="4828031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18/28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3504" y="5477256"/>
            <a:ext cx="10698480" cy="475488"/>
          </a:xfrm>
          <a:prstGeom prst="roundRect">
            <a:avLst/>
          </a:prstGeom>
          <a:solidFill>
            <a:srgbClr val="EDF3EF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623560"/>
            <a:ext cx="102229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90" b="1" i="0">
                <a:solidFill>
                  <a:srgbClr val="2E8657"/>
                </a:solidFill>
                <a:latin typeface="PingFang SC"/>
              </a:rPr>
              <a:t>关键信号：同一 agent_biz 框架切换模型后，成绩从 39.3% 到 67.9%；模型选择与服务可靠性是当前最大变量。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144768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E6A60"/>
                </a:solidFill>
                <a:latin typeface="Avenir Next Condensed"/>
              </a:rPr>
              <a:t>数据：GAIA 本地样本；strict aligned comparison（28 题）。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20  / 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252B35"/>
                </a:solidFill>
                <a:latin typeface="PingFang SC"/>
              </a:rPr>
              <a:t>总结：从理解终端 AI Agent，到构建并验证企业内 Agent 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6A60"/>
                </a:solidFill>
                <a:latin typeface="PingFang SC"/>
              </a:rPr>
              <a:t>本次调研的价值不只是选型，更是明确了终端 AI Agent 的工程问题、可行实现路径与企业内落地边界。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901952"/>
            <a:ext cx="10698480" cy="100584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901952"/>
            <a:ext cx="64008" cy="1005840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B85C36"/>
                </a:solidFill>
                <a:latin typeface="Avenir Next Condense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057400"/>
            <a:ext cx="58064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85C36"/>
                </a:solidFill>
                <a:latin typeface="PingFang SC"/>
              </a:rPr>
              <a:t>理解了终端 AI Agent 的问题特点与开发挑战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386584"/>
            <a:ext cx="9070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6E6A60"/>
                </a:solidFill>
                <a:latin typeface="PingFang SC"/>
              </a:rPr>
              <a:t>Agent Loop 之外，Context、Tool、State、Permission、Verification 共同决定任务能否安全、可靠、可恢复地完成。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3118104"/>
            <a:ext cx="10698480" cy="100584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" y="3118104"/>
            <a:ext cx="64008" cy="1005840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19272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2E8657"/>
                </a:solidFill>
                <a:latin typeface="Avenir Next Condense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273552"/>
            <a:ext cx="58064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E8657"/>
                </a:solidFill>
                <a:latin typeface="PingFang SC"/>
              </a:rPr>
              <a:t>成功开发 agent_biz：轻代码量、兼容企业平台、逻辑透明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3602736"/>
            <a:ext cx="9070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6E6A60"/>
                </a:solidFill>
                <a:latin typeface="PingFang SC"/>
              </a:rPr>
              <a:t>主参考 Claude Code、辅参考其他 Agent 框架；以约 6K LOC 形成可在 Oceanus 运行、无黑盒暗门、可核查、可由用户自主调整迭代的框架。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4334256"/>
            <a:ext cx="10698480" cy="100584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" y="4334256"/>
            <a:ext cx="64008" cy="1005840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35424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765A9B"/>
                </a:solidFill>
                <a:latin typeface="Avenir Next Condense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4489704"/>
            <a:ext cx="58064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765A9B"/>
                </a:solidFill>
                <a:latin typeface="PingFang SC"/>
              </a:rPr>
              <a:t>配置国产模型后，取得有竞争力的 GAIA 样本结果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4818888"/>
            <a:ext cx="9070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6E6A60"/>
                </a:solidFill>
                <a:latin typeface="PingFang SC"/>
              </a:rPr>
              <a:t>在本地 GAIA 30 题样本的严格口径中，agent_biz + doubao-turbo-2.1 达到 67.9%（19/28），与 Claude Code + Sonnet 5 并列第一。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5705856"/>
            <a:ext cx="10698480" cy="384048"/>
          </a:xfrm>
          <a:prstGeom prst="roundRect">
            <a:avLst/>
          </a:prstGeom>
          <a:solidFill>
            <a:srgbClr val="F1E7D2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824728"/>
            <a:ext cx="1025956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90" b="1" i="0">
                <a:solidFill>
                  <a:srgbClr val="B85C36"/>
                </a:solidFill>
                <a:latin typeface="PingFang SC"/>
              </a:rPr>
              <a:t>下一阶段：让更多真实业务任务反哺 agent_biz，持续补齐安全、可靠、评测与系统集成能力。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181344"/>
            <a:ext cx="7315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E6A60"/>
                </a:solidFill>
                <a:latin typeface="Avenir Next Condensed"/>
              </a:rPr>
              <a:t>口径：GAIA 为本地 30 题样本；严格对齐比较 28 题；结果用于工程验证，不代表官方总榜。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19  /  QUESTION REPLAY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2B35"/>
                </a:solidFill>
                <a:latin typeface="PingFang SC"/>
              </a:rPr>
              <a:t>GAIA 题目回放：Pie Menus first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30" b="0" i="0">
                <a:solidFill>
                  <a:srgbClr val="6E6A60"/>
                </a:solidFill>
                <a:latin typeface="PingFang SC"/>
              </a:rPr>
              <a:t>Level 1 · 检索 + 作者消歧 + 文献时间线。它直观展示：同一个 Harness 换模型，及不同 Agent 产品，对“精确证据链”的处理差异。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719072"/>
            <a:ext cx="10698480" cy="786384"/>
          </a:xfrm>
          <a:prstGeom prst="roundRect">
            <a:avLst/>
          </a:prstGeom>
          <a:solidFill>
            <a:srgbClr val="F1E7D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168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70" b="1" i="0">
                <a:solidFill>
                  <a:srgbClr val="252B35"/>
                </a:solidFill>
                <a:latin typeface="PingFang SC"/>
              </a:rPr>
              <a:t>题目（译）：在 2015 年论文《Pie Menus or Linear Menus, Which Is Better?》的作者中，找出此前发表过论文的那位作者；其最早发表论文的标题是什么？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2679192"/>
            <a:ext cx="10698480" cy="438912"/>
          </a:xfrm>
          <a:prstGeom prst="roundRect">
            <a:avLst/>
          </a:prstGeom>
          <a:solidFill>
            <a:srgbClr val="EDF3EF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102047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 i="0">
                <a:solidFill>
                  <a:srgbClr val="2E8657"/>
                </a:solidFill>
                <a:latin typeface="Avenir Next Condensed"/>
              </a:rPr>
              <a:t>标准答案：Mapping Human Oriented Information to Software Agents for Online Systems Usage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3355848"/>
            <a:ext cx="5212080" cy="59436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3355848"/>
            <a:ext cx="50292" cy="594360"/>
          </a:xfrm>
          <a:prstGeom prst="rect">
            <a:avLst/>
          </a:prstGeom>
          <a:solidFill>
            <a:srgbClr val="B94A48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520440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94A48"/>
                </a:solidFill>
                <a:latin typeface="Avenir Next Condensed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74720"/>
            <a:ext cx="2240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252B35"/>
                </a:solidFill>
                <a:latin typeface="PingFang SC"/>
              </a:rPr>
              <a:t>Claude Code · Sonnet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675887"/>
            <a:ext cx="4480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6E6A60"/>
                </a:solidFill>
                <a:latin typeface="Avenir Next Condensed"/>
              </a:rPr>
              <a:t>Effectiveness of Mapping Human-Oriented Information to Software Agents for Online Teaching Environments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3355848"/>
            <a:ext cx="5212080" cy="59436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3355848"/>
            <a:ext cx="50292" cy="594360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3520440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8657"/>
                </a:solidFill>
                <a:latin typeface="Avenir Next Condense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3474720"/>
            <a:ext cx="2240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252B35"/>
                </a:solidFill>
                <a:latin typeface="PingFang SC"/>
              </a:rPr>
              <a:t>agent_biz · glm-5.2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3675887"/>
            <a:ext cx="4480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6E6A60"/>
                </a:solidFill>
                <a:latin typeface="Avenir Next Condensed"/>
              </a:rPr>
              <a:t>Mapping human-oriented information to software agents for online systems usage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" y="4078224"/>
            <a:ext cx="5212080" cy="59436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" y="4078224"/>
            <a:ext cx="50292" cy="594360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242816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8657"/>
                </a:solidFill>
                <a:latin typeface="Avenir Next Condensed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197096"/>
            <a:ext cx="2240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252B35"/>
                </a:solidFill>
                <a:latin typeface="PingFang SC"/>
              </a:rPr>
              <a:t>agent_biz · doubao-turbo-2.1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398264"/>
            <a:ext cx="4480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6E6A60"/>
                </a:solidFill>
                <a:latin typeface="Avenir Next Condensed"/>
              </a:rPr>
              <a:t>Mapping human-oriented information to software agents for online systems usage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3056" y="4078224"/>
            <a:ext cx="5212080" cy="59436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3056" y="4078224"/>
            <a:ext cx="50292" cy="594360"/>
          </a:xfrm>
          <a:prstGeom prst="rect">
            <a:avLst/>
          </a:prstGeom>
          <a:solidFill>
            <a:srgbClr val="B94A48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4242816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94A48"/>
                </a:solidFill>
                <a:latin typeface="Avenir Next Condensed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4197096"/>
            <a:ext cx="2240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252B35"/>
                </a:solidFill>
                <a:latin typeface="PingFang SC"/>
              </a:rPr>
              <a:t>agent_biz · deepseek-v4-pro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4398264"/>
            <a:ext cx="4480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6E6A60"/>
                </a:solidFill>
                <a:latin typeface="Avenir Next Condensed"/>
              </a:rPr>
              <a:t>A new software agent 'learning' algorithm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4800600"/>
            <a:ext cx="5212080" cy="59436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" y="4800600"/>
            <a:ext cx="50292" cy="594360"/>
          </a:xfrm>
          <a:prstGeom prst="rect">
            <a:avLst/>
          </a:prstGeom>
          <a:solidFill>
            <a:srgbClr val="B94A48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965192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94A48"/>
                </a:solidFill>
                <a:latin typeface="Avenir Next Condensed"/>
              </a:rPr>
              <a:t>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919472"/>
            <a:ext cx="2240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252B35"/>
                </a:solidFill>
                <a:latin typeface="PingFang SC"/>
              </a:rPr>
              <a:t>agent_biz · deepseek-flash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120640"/>
            <a:ext cx="4480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6E6A60"/>
                </a:solidFill>
                <a:latin typeface="Avenir Next Condensed"/>
              </a:rPr>
              <a:t>Effectiveness of Mapping Human-Oriented Information to Software Agents for Online Teaching Environments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63056" y="4800600"/>
            <a:ext cx="5212080" cy="59436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63056" y="4800600"/>
            <a:ext cx="50292" cy="594360"/>
          </a:xfrm>
          <a:prstGeom prst="rect">
            <a:avLst/>
          </a:prstGeom>
          <a:solidFill>
            <a:srgbClr val="B94A48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4965192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94A48"/>
                </a:solidFill>
                <a:latin typeface="Avenir Next Condensed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11112" y="4919472"/>
            <a:ext cx="2240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252B35"/>
                </a:solidFill>
                <a:latin typeface="PingFang SC"/>
              </a:rPr>
              <a:t>agent_biz · doubao-mini-2.0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1112" y="5120640"/>
            <a:ext cx="4480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6E6A60"/>
                </a:solidFill>
                <a:latin typeface="Avenir Next Condensed"/>
              </a:rPr>
              <a:t>Effectiveness of Mapping Human-Oriented Information to Software Agents for Online Teaching Environments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" y="5650992"/>
            <a:ext cx="10698480" cy="402336"/>
          </a:xfrm>
          <a:prstGeom prst="round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5769864"/>
            <a:ext cx="10222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252B35"/>
                </a:solidFill>
                <a:latin typeface="PingFang SC"/>
              </a:rPr>
              <a:t>读法：这是“精确文献追溯”而非泛泛相关性判断；6 个运行中仅 glm-5.2 与 doubao-turbo-2.1 命中精确标题。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6172200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 i="0">
                <a:solidFill>
                  <a:srgbClr val="6E6A60"/>
                </a:solidFill>
                <a:latin typeface="Avenir Next Condensed"/>
              </a:rPr>
              <a:t>数据来源：GAIA · Pie Menus first paper · Level 1。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07  / 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52B35"/>
                </a:solidFill>
                <a:latin typeface="PingFang SC"/>
              </a:rPr>
              <a:t>技术路线对比：框架能力与工程取舍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E6A60"/>
                </a:solidFill>
                <a:latin typeface="PingFang SC"/>
              </a:rPr>
              <a:t>表格中的项目可替换为你实际调研对象；用“适配场景”代替泛泛评价。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965960"/>
            <a:ext cx="1938528" cy="47548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21408"/>
            <a:ext cx="17556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路线 / 项目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2587752" y="1965960"/>
            <a:ext cx="1901952" cy="47548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121408"/>
            <a:ext cx="17190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E6A60"/>
                </a:solidFill>
                <a:latin typeface="Avenir Next Condensed"/>
              </a:rPr>
              <a:t>核心范式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965960"/>
            <a:ext cx="2121408" cy="47548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121408"/>
            <a:ext cx="1938527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E6A60"/>
                </a:solidFill>
                <a:latin typeface="Avenir Next Condensed"/>
              </a:rPr>
              <a:t>优势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965960"/>
            <a:ext cx="2212848" cy="47548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121408"/>
            <a:ext cx="2029967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E6A60"/>
                </a:solidFill>
                <a:latin typeface="Avenir Next Condensed"/>
              </a:rPr>
              <a:t>代价 / 风险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965960"/>
            <a:ext cx="2487168" cy="47548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2288" y="2121408"/>
            <a:ext cx="23042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E6A60"/>
                </a:solidFill>
                <a:latin typeface="Avenir Next Condensed"/>
              </a:rPr>
              <a:t>适配场景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2441448"/>
            <a:ext cx="193852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569464"/>
            <a:ext cx="17556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252B35"/>
                </a:solidFill>
                <a:latin typeface="PingFang SC"/>
              </a:rPr>
              <a:t>轻量自研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87752" y="2441448"/>
            <a:ext cx="1901952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2569464"/>
            <a:ext cx="17190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最小 Loop + 工具协议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441448"/>
            <a:ext cx="212140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2569464"/>
            <a:ext cx="19385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透明、可控、易裁剪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2441448"/>
            <a:ext cx="221284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2569464"/>
            <a:ext cx="20299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需自行补齐工程能力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2441448"/>
            <a:ext cx="248716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2288" y="2569464"/>
            <a:ext cx="23042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产品早期 / 强定制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" y="3145536"/>
            <a:ext cx="193852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273552"/>
            <a:ext cx="17556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252B35"/>
                </a:solidFill>
                <a:latin typeface="PingFang SC"/>
              </a:rPr>
              <a:t>CLI 成熟方案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87752" y="3145536"/>
            <a:ext cx="1901952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97480" y="3273552"/>
            <a:ext cx="17190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终端原生 Agent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3145536"/>
            <a:ext cx="212140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3273552"/>
            <a:ext cx="19385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交互、权限、上下文完善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3145536"/>
            <a:ext cx="221284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76288" y="3273552"/>
            <a:ext cx="20299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抽象较深 / 依赖绑定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60" y="3145536"/>
            <a:ext cx="248716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62288" y="3273552"/>
            <a:ext cx="23042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研发效能场景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" y="3849624"/>
            <a:ext cx="193852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3977639"/>
            <a:ext cx="17556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252B35"/>
                </a:solidFill>
                <a:latin typeface="PingFang SC"/>
              </a:rPr>
              <a:t>通用 Agent 框架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87752" y="3849624"/>
            <a:ext cx="1901952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80" y="3977639"/>
            <a:ext cx="17190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编排 / 多 Agent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3849624"/>
            <a:ext cx="212140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81728" y="3977639"/>
            <a:ext cx="19385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生态丰富、集成快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6560" y="3849624"/>
            <a:ext cx="221284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76288" y="3977639"/>
            <a:ext cx="20299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复杂度与调试成本高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52560" y="3849624"/>
            <a:ext cx="248716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62288" y="3977639"/>
            <a:ext cx="23042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复杂工作流验证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" y="4553712"/>
            <a:ext cx="193852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4681728"/>
            <a:ext cx="17556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252B35"/>
                </a:solidFill>
                <a:latin typeface="PingFang SC"/>
              </a:rPr>
              <a:t>云端托管 Agent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87752" y="4553712"/>
            <a:ext cx="1901952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97480" y="4681728"/>
            <a:ext cx="17190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平台化运行时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0" y="4553712"/>
            <a:ext cx="212140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81728" y="4681728"/>
            <a:ext cx="19385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运维与可观测性较完整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6560" y="4553712"/>
            <a:ext cx="221284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76288" y="4681728"/>
            <a:ext cx="20299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数据、成本、可移植性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52560" y="4553712"/>
            <a:ext cx="248716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2288" y="4681728"/>
            <a:ext cx="23042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快速试点 / 标准流程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" y="5623560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6A60"/>
                </a:solidFill>
                <a:latin typeface="Avenir Next Condensed"/>
              </a:rPr>
              <a:t>调研口径：统一选取〔任务类型〕、〔模型〕、〔环境〕，避免把模型能力误归因于框架。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08  / 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52B35"/>
                </a:solidFill>
                <a:latin typeface="PingFang SC"/>
              </a:rPr>
              <a:t>Benchmark 不是分数表，而是能力拆解工具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E6A60"/>
                </a:solidFill>
                <a:latin typeface="PingFang SC"/>
              </a:rPr>
              <a:t>推荐把任务按“是否需要真实执行 / 是否可验证 / 风险等级”三个维度切分。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975104"/>
            <a:ext cx="5230368" cy="109728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221992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E6FA6"/>
                </a:solidFill>
                <a:latin typeface="Avenir Next Condensed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16712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单步工具调用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523744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读取文件、搜索代码、格式转换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975104"/>
            <a:ext cx="5230368" cy="109728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2221992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B85C36"/>
                </a:solidFill>
                <a:latin typeface="Avenir Next Condensed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216712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多步任务规划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2523744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定位问题 → 修改 → 执行测试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" y="3438144"/>
            <a:ext cx="5230368" cy="109728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3685032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E8657"/>
                </a:solidFill>
                <a:latin typeface="Avenir Next Condensed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63016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环境反馈修正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3986784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命令失败后分析原因并调整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3438144"/>
            <a:ext cx="5230368" cy="109728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3685032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B94A48"/>
                </a:solidFill>
                <a:latin typeface="Avenir Next Condensed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363016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安全与权限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3986784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危险命令确认、敏感信息处理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5248656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Avenir Next Condensed"/>
              </a:rPr>
              <a:t>评分建议：任务成功率 40%  ·  过程可靠性 30%  ·  安全合规 20%  ·  成本与耗时 10%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09  / 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52B35"/>
                </a:solidFill>
                <a:latin typeface="PingFang SC"/>
              </a:rPr>
              <a:t>测试结果模板：让结论一眼可读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E6A60"/>
                </a:solidFill>
                <a:latin typeface="PingFang SC"/>
              </a:rPr>
              <a:t>仅展示统一条件下的结果，并在页脚补充任务数、模型版本、运行环境。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03703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方案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76272" y="2084831"/>
            <a:ext cx="6720840" cy="438912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76272" y="2084831"/>
            <a:ext cx="4839004" cy="438912"/>
          </a:xfrm>
          <a:prstGeom prst="round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89136" y="2185415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E6FA6"/>
                </a:solidFill>
                <a:latin typeface="Avenir Next Condensed"/>
              </a:rPr>
              <a:t>72%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227832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方案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76272" y="3108960"/>
            <a:ext cx="6720840" cy="438912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76272" y="3108960"/>
            <a:ext cx="5645505" cy="438912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3209544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85C36"/>
                </a:solidFill>
                <a:latin typeface="Avenir Next Condensed"/>
              </a:rPr>
              <a:t>84%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251959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我们的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76272" y="4133087"/>
            <a:ext cx="6720840" cy="438912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76272" y="4133087"/>
            <a:ext cx="6115964" cy="438912"/>
          </a:xfrm>
          <a:prstGeom prst="round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89136" y="4233672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E8657"/>
                </a:solidFill>
                <a:latin typeface="Avenir Next Condensed"/>
              </a:rPr>
              <a:t>91%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358384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6A60"/>
                </a:solidFill>
                <a:latin typeface="PingFang SC"/>
              </a:rPr>
              <a:t>可替换图表：成功率 / 平均耗时 / 成本 / 人工介入次数 / 安全拒绝率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947672"/>
            <a:ext cx="3072384" cy="2615184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222199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READOUT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2551176"/>
            <a:ext cx="1920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52B35"/>
                </a:solidFill>
                <a:latin typeface="PingFang SC"/>
              </a:rPr>
              <a:t>结果解读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85632" y="3118103"/>
            <a:ext cx="82296" cy="82296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9367" y="3017520"/>
            <a:ext cx="21579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2B35"/>
                </a:solidFill>
                <a:latin typeface="PingFang SC"/>
              </a:rPr>
              <a:t>领先项：〔填写〕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85632" y="3602736"/>
            <a:ext cx="82296" cy="82296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59367" y="3502152"/>
            <a:ext cx="21579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2B35"/>
                </a:solidFill>
                <a:latin typeface="PingFang SC"/>
              </a:rPr>
              <a:t>短板项：〔填写〕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85632" y="4087368"/>
            <a:ext cx="82296" cy="82296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59367" y="3986783"/>
            <a:ext cx="21579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2B35"/>
                </a:solidFill>
                <a:latin typeface="PingFang SC"/>
              </a:rPr>
              <a:t>下一轮验证：〔填写〕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007608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E6A60"/>
                </a:solidFill>
                <a:latin typeface="Avenir Next Condensed"/>
              </a:rPr>
              <a:t>N=〔任务数量〕  ·  Model=〔版本〕  ·  Env=〔环境〕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10  /  OUR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52B35"/>
                </a:solidFill>
                <a:latin typeface="PingFang SC"/>
              </a:rPr>
              <a:t>我们的 Agent：一个可读、可改、可执行的核心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E6A60"/>
                </a:solidFill>
                <a:latin typeface="PingFang SC"/>
              </a:rPr>
              <a:t>此页用于介绍项目定位和最能支撑“为什么做”的 3 个特性。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2011680"/>
            <a:ext cx="3429000" cy="235915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2011680"/>
            <a:ext cx="54864" cy="2359152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2128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6FA6"/>
                </a:solidFill>
                <a:latin typeface="Avenir Next Condense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9304" y="2203704"/>
            <a:ext cx="25603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逻辑透明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587752"/>
            <a:ext cx="299008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核心状态机与工具调用路径可追踪；新同学可以从主循环快速理解系统。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429000" cy="235915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011680"/>
            <a:ext cx="54864" cy="2359152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2128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203704"/>
            <a:ext cx="25603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核心简洁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587752"/>
            <a:ext cx="299008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保持最小依赖与少量抽象，复杂能力按需以插件或策略层叠加。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2011680"/>
            <a:ext cx="3429000" cy="235915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4736" y="2011680"/>
            <a:ext cx="54864" cy="2359152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22128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8657"/>
                </a:solidFill>
                <a:latin typeface="Avenir Next Condense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0536" y="2203704"/>
            <a:ext cx="25603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执行能力强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2587752"/>
            <a:ext cx="299008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面向真实仓库与终端环境，强调观察、纠错、验证的闭环完成率。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4956048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B85C36"/>
                </a:solidFill>
                <a:latin typeface="Avenir Next Condensed"/>
              </a:rPr>
              <a:t>项目入口：〔repo / command / 文档链接〕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5394960"/>
            <a:ext cx="9692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6A60"/>
                </a:solidFill>
                <a:latin typeface="PingFang SC"/>
              </a:rPr>
              <a:t>适用边界：〔目标用户〕  ·  〔典型任务〕  ·  〔当前不处理的场景〕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11  /  OUR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52B35"/>
                </a:solidFill>
                <a:latin typeface="PingFang SC"/>
              </a:rPr>
              <a:t>复杂度对比：用代码量解释，别用代码量证明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E6A60"/>
                </a:solidFill>
                <a:latin typeface="PingFang SC"/>
              </a:rPr>
              <a:t>LOC 只作为理解维护成本的辅助证据，需搭配能力覆盖和结果数据。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40279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我们的核心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2928" y="2121408"/>
            <a:ext cx="2377440" cy="438912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52928" y="2121408"/>
            <a:ext cx="1854403" cy="438912"/>
          </a:xfrm>
          <a:prstGeom prst="round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76672" y="223113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E8657"/>
                </a:solidFill>
                <a:latin typeface="Avenir Next Condensed"/>
              </a:rPr>
              <a:t>〔120〕 LOC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91839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方案 A 关键路径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2928" y="3172968"/>
            <a:ext cx="5760720" cy="438912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52928" y="3172968"/>
            <a:ext cx="4493361" cy="438912"/>
          </a:xfrm>
          <a:prstGeom prst="round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328269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E6FA6"/>
                </a:solidFill>
                <a:latin typeface="Avenir Next Condensed"/>
              </a:rPr>
              <a:t>〔680〕 LOC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343399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方案 B 关键路径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52928" y="4224527"/>
            <a:ext cx="8595360" cy="438912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52928" y="4224527"/>
            <a:ext cx="6704380" cy="438912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94592" y="4334255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B85C36"/>
                </a:solidFill>
                <a:latin typeface="Avenir Next Condensed"/>
              </a:rPr>
              <a:t>〔1,240〕 LOC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5404104"/>
            <a:ext cx="10552176" cy="48463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555955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6E6A60"/>
                </a:solidFill>
                <a:latin typeface="Avenir Next Condensed"/>
              </a:rPr>
              <a:t>口径提示：统计范围 = 〔核心 Agent 路径〕；排除 〔生成代码 / 依赖 / 测试〕；日期 = 〔YYYY-MM-DD〕。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12  / 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52B35"/>
                </a:solidFill>
                <a:latin typeface="PingFang SC"/>
              </a:rPr>
              <a:t>下一步：用测试集驱动能力迭代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E6A60"/>
                </a:solidFill>
                <a:latin typeface="PingFang SC"/>
              </a:rPr>
              <a:t>路线图按“先闭环、再加固、后规模化”组织。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2039112"/>
            <a:ext cx="3401568" cy="309067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676656" cy="265176"/>
          </a:xfrm>
          <a:prstGeom prst="roundRect">
            <a:avLst/>
          </a:prstGeom>
          <a:solidFill>
            <a:srgbClr val="FCFAF2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18004"/>
            <a:ext cx="6766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2E6FA6"/>
                </a:solidFill>
                <a:latin typeface="Avenir Next Condensed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770632"/>
            <a:ext cx="25603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52B35"/>
                </a:solidFill>
                <a:latin typeface="PingFang SC"/>
              </a:rPr>
              <a:t>闭环可用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419856"/>
            <a:ext cx="82296" cy="82296"/>
          </a:xfrm>
          <a:prstGeom prst="round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3319272"/>
            <a:ext cx="26151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2B35"/>
                </a:solidFill>
                <a:latin typeface="PingFang SC"/>
              </a:rPr>
              <a:t>稳定核心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904488"/>
            <a:ext cx="82296" cy="82296"/>
          </a:xfrm>
          <a:prstGeom prst="round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3803904"/>
            <a:ext cx="26151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2B35"/>
                </a:solidFill>
                <a:latin typeface="PingFang SC"/>
              </a:rPr>
              <a:t>沉淀 20+ 代表任务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4389120"/>
            <a:ext cx="82296" cy="82296"/>
          </a:xfrm>
          <a:prstGeom prst="round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4288536"/>
            <a:ext cx="26151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2B35"/>
                </a:solidFill>
                <a:latin typeface="PingFang SC"/>
              </a:rPr>
              <a:t>定义成功与退出标准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9935" y="3401568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50" b="1" i="0">
                <a:solidFill>
                  <a:srgbClr val="6E6A60"/>
                </a:solidFill>
                <a:latin typeface="Avenir Next Condensed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2039112"/>
            <a:ext cx="3401568" cy="309067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90288" y="2286000"/>
            <a:ext cx="676656" cy="265176"/>
          </a:xfrm>
          <a:prstGeom prst="roundRect">
            <a:avLst/>
          </a:prstGeom>
          <a:solidFill>
            <a:srgbClr val="EEE7D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2318004"/>
            <a:ext cx="6766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B85C36"/>
                </a:solidFill>
                <a:latin typeface="Avenir Next Condensed"/>
              </a:rP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2770632"/>
            <a:ext cx="25603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52B35"/>
                </a:solidFill>
                <a:latin typeface="PingFang SC"/>
              </a:rPr>
              <a:t>工程加固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08576" y="3419856"/>
            <a:ext cx="82296" cy="82296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3319272"/>
            <a:ext cx="26151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2B35"/>
                </a:solidFill>
                <a:latin typeface="PingFang SC"/>
              </a:rPr>
              <a:t>权限策略与审计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08576" y="3904488"/>
            <a:ext cx="82296" cy="82296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82312" y="3803904"/>
            <a:ext cx="26151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2B35"/>
                </a:solidFill>
                <a:latin typeface="PingFang SC"/>
              </a:rPr>
              <a:t>上下文压缩与恢复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08576" y="4389120"/>
            <a:ext cx="82296" cy="82296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82312" y="4288536"/>
            <a:ext cx="26151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2B35"/>
                </a:solidFill>
                <a:latin typeface="PingFang SC"/>
              </a:rPr>
              <a:t>验证器 / 测试沙箱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27264" y="3401568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50" b="1" i="0">
                <a:solidFill>
                  <a:srgbClr val="6E6A60"/>
                </a:solidFill>
                <a:latin typeface="Avenir Next Condensed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2039112"/>
            <a:ext cx="3401568" cy="309067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57616" y="2286000"/>
            <a:ext cx="676656" cy="265176"/>
          </a:xfrm>
          <a:prstGeom prst="roundRect">
            <a:avLst/>
          </a:prstGeom>
          <a:solidFill>
            <a:srgbClr val="FCFAF2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7616" y="2318004"/>
            <a:ext cx="6766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2E8657"/>
                </a:solidFill>
                <a:latin typeface="Avenir Next Condensed"/>
              </a:rPr>
              <a:t>LATER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770632"/>
            <a:ext cx="25603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52B35"/>
                </a:solidFill>
                <a:latin typeface="PingFang SC"/>
              </a:rPr>
              <a:t>规模化演进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75904" y="3419856"/>
            <a:ext cx="82296" cy="82296"/>
          </a:xfrm>
          <a:prstGeom prst="round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3319272"/>
            <a:ext cx="26151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2B35"/>
                </a:solidFill>
                <a:latin typeface="PingFang SC"/>
              </a:rPr>
              <a:t>插件和工具生态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75904" y="3904488"/>
            <a:ext cx="82296" cy="82296"/>
          </a:xfrm>
          <a:prstGeom prst="round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3803904"/>
            <a:ext cx="26151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2B35"/>
                </a:solidFill>
                <a:latin typeface="PingFang SC"/>
              </a:rPr>
              <a:t>可观测性与评估平台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75904" y="4389120"/>
            <a:ext cx="82296" cy="82296"/>
          </a:xfrm>
          <a:prstGeom prst="round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4288536"/>
            <a:ext cx="26151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2B35"/>
                </a:solidFill>
                <a:latin typeface="PingFang SC"/>
              </a:rPr>
              <a:t>团队协同与知识沉淀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73152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61872"/>
            <a:ext cx="7772400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252B35"/>
                </a:solidFill>
                <a:latin typeface="PingFang SC"/>
              </a:rPr>
              <a:t>把终端 AI Agent 当作
一条可验证的工程闭环。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999232"/>
            <a:ext cx="8046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 i="0">
                <a:solidFill>
                  <a:srgbClr val="6E6A60"/>
                </a:solidFill>
                <a:latin typeface="PingFang SC"/>
              </a:rPr>
              <a:t>建议从一个真实任务集开始：先让它能完成，再让它可靠、可控、可持续演进。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959352"/>
            <a:ext cx="6995160" cy="731520"/>
          </a:xfrm>
          <a:prstGeom prst="round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4206240"/>
            <a:ext cx="6355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85C36"/>
                </a:solidFill>
                <a:latin typeface="PingFang SC"/>
              </a:rPr>
              <a:t>讨论题：我们的第一个“必须稳定完成”的任务是什么？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897880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6E6A60"/>
                </a:solidFill>
                <a:latin typeface="Avenir Next Condensed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5897880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50" b="1" i="0">
                <a:solidFill>
                  <a:srgbClr val="6E6A60"/>
                </a:solidFill>
                <a:latin typeface="Avenir Next Condensed"/>
              </a:rPr>
              <a:t>〔联系人 / 项目地址〕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21  / 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2B35"/>
                </a:solidFill>
                <a:latin typeface="PingFang SC"/>
              </a:rPr>
              <a:t>后续展望：让终端 AI Agent 成为企业业务模型迭代的可靠基础设施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6A60"/>
                </a:solidFill>
                <a:latin typeface="PingFang SC"/>
              </a:rPr>
              <a:t>方向不是追求一次性“全自动”，而是把 Agent Loop、业务系统和评测治理逐步连成可验证、可回退的闭环。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2011680"/>
            <a:ext cx="3438144" cy="201168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2011680"/>
            <a:ext cx="64008" cy="2011680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26771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B85C36"/>
                </a:solidFill>
                <a:latin typeface="Avenir Next Condense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606040"/>
            <a:ext cx="2907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继续打磨企业内 Agent Loop + Auto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3227832"/>
            <a:ext cx="29077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6E6A60"/>
                </a:solidFill>
                <a:latin typeface="PingFang SC"/>
              </a:rPr>
              <a:t>补齐安全、可靠、权限、验证、恢复与审计；把自动研究能力用于各类业务模型迭代。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011680"/>
            <a:ext cx="3438144" cy="201168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2544" y="2011680"/>
            <a:ext cx="64008" cy="2011680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26771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2E8657"/>
                </a:solidFill>
                <a:latin typeface="Avenir Next Condense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606040"/>
            <a:ext cx="2907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关联更多业务系统，提升自动化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3227832"/>
            <a:ext cx="29077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6E6A60"/>
                </a:solidFill>
                <a:latin typeface="PingFang SC"/>
              </a:rPr>
              <a:t>从信息读取走向问题归因、问题抽象、动作建议、执行验证；优先接入可控、可回滚的系统。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2011680"/>
            <a:ext cx="3438144" cy="201168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2011680"/>
            <a:ext cx="64008" cy="2011680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26771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765A9B"/>
                </a:solidFill>
                <a:latin typeface="Avenir Next Condense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606040"/>
            <a:ext cx="2907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建立人机协同的评测与治理飞轮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227832"/>
            <a:ext cx="29077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6E6A60"/>
                </a:solidFill>
                <a:latin typeface="PingFang SC"/>
              </a:rPr>
              <a:t>沉淀真实任务集、成功/可靠/成本/风险指标和证据链；将人工审批与复盘变成下一轮能力输入。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25296" y="4681728"/>
            <a:ext cx="9747504" cy="841248"/>
          </a:xfrm>
          <a:prstGeom prst="roundRect">
            <a:avLst/>
          </a:prstGeom>
          <a:solidFill>
            <a:srgbClr val="EDF3EF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4882896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70" b="1" i="0">
                <a:solidFill>
                  <a:srgbClr val="252B35"/>
                </a:solidFill>
                <a:latin typeface="PingFang SC"/>
              </a:rPr>
              <a:t>实践中的失败、人工介入、权限拒绝、超时与验收证据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82896"/>
            <a:ext cx="3474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50" b="1" i="0">
                <a:solidFill>
                  <a:srgbClr val="2E8657"/>
                </a:solidFill>
                <a:latin typeface="Avenir Next Condensed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2896" y="4882896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70" b="1" i="0">
                <a:solidFill>
                  <a:srgbClr val="2E8657"/>
                </a:solidFill>
                <a:latin typeface="PingFang SC"/>
              </a:rPr>
              <a:t>反哺 agent_biz：工具、提示、状态、权限与验证机制持续迭代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7384" y="4882896"/>
            <a:ext cx="3474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50" b="1" i="0">
                <a:solidFill>
                  <a:srgbClr val="2E8657"/>
                </a:solidFill>
                <a:latin typeface="Avenir Next Condensed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488289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70" b="1" i="0">
                <a:solidFill>
                  <a:srgbClr val="252B35"/>
                </a:solidFill>
                <a:latin typeface="PingFang SC"/>
              </a:rPr>
              <a:t>更适配企业业务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925312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70" b="1" i="0">
                <a:solidFill>
                  <a:srgbClr val="252B35"/>
                </a:solidFill>
                <a:latin typeface="PingFang SC"/>
              </a:rPr>
              <a:t>原则：每扩展一项自动化能力，都同步定义它的责任边界、评测任务、人工接管点和回滚方案。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21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73152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THANK YOU /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859536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52B35"/>
                </a:solidFill>
                <a:latin typeface="PingFang SC"/>
              </a:rPr>
              <a:t>从一个真实任务开始，
把 Agent 做成可验证的企业能力。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71800"/>
            <a:ext cx="8869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 i="0">
                <a:solidFill>
                  <a:srgbClr val="6E6A60"/>
                </a:solidFill>
                <a:latin typeface="PingFang SC"/>
              </a:rPr>
              <a:t>欢迎讨论：第一个值得交给终端 AI Agent 稳定完成的业务任务，应该是什么？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886200"/>
            <a:ext cx="7680960" cy="749808"/>
          </a:xfrm>
          <a:prstGeom prst="round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4169663"/>
            <a:ext cx="7059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50" b="1" i="0">
                <a:solidFill>
                  <a:srgbClr val="B85C36"/>
                </a:solidFill>
                <a:latin typeface="PingFang SC"/>
              </a:rPr>
              <a:t>感谢聆听  ·  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897880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6E6A60"/>
                </a:solidFill>
                <a:latin typeface="Avenir Next Condensed"/>
              </a:rPr>
              <a:t>agent_biz / Qfin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7031" y="5897880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50" b="1" i="0">
                <a:solidFill>
                  <a:srgbClr val="6E6A60"/>
                </a:solidFill>
                <a:latin typeface="Avenir Next Condensed"/>
              </a:rPr>
              <a:t>〔联系人 / 项目地址〕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