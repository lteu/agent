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0D4FF">
              <a:lumMod val="40000"/>
              <a:lumOff val="60000"/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5669280"/>
            <a:ext cx="73152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03120" y="5669280"/>
            <a:ext cx="1005840" cy="0"/>
          </a:xfrm>
          <a:prstGeom prst="line">
            <a:avLst/>
          </a:prstGeom>
          <a:ln w="508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74720" y="5669280"/>
            <a:ext cx="1280160" cy="0"/>
          </a:xfrm>
          <a:prstGeom prst="line">
            <a:avLst/>
          </a:prstGeom>
          <a:ln w="5080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645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D4FF"/>
                </a:solidFill>
                <a:latin typeface="Arial"/>
              </a:rPr>
              <a:t>TECHNICAL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  <a:ea typeface="Microsoft YaHei"/>
              </a:rPr>
              <a:t>AI Agent 技术架构与实践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</a:rPr>
              <a:t>从原理到落地：智能体的核心能力与工程实践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480560"/>
            <a:ext cx="22860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7548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汇报人：</a:t>
            </a:r>
            <a:r>
              <a:rPr sz="1400" b="0">
                <a:solidFill>
                  <a:srgbClr val="C9D1D9"/>
                </a:solidFill>
                <a:latin typeface="Microsoft YaHei"/>
                <a:ea typeface="Microsoft YaHei"/>
              </a:rPr>
              <a:t>技术团队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日  期：</a:t>
            </a:r>
            <a:r>
              <a:rPr sz="1400" b="0">
                <a:solidFill>
                  <a:srgbClr val="C9D1D9"/>
                </a:solidFill>
                <a:latin typeface="Microsoft YaHei"/>
                <a:ea typeface="Microsoft YaHei"/>
              </a:rPr>
              <a:t>2025 年 7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目  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3716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37744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背景与趋势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AI Agent 发展背景与行业趋势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19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1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43399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Agent 的定义、组成与核心能力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0352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1500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整体架构设计与关键模块解析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7744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6032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关键技术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7180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规划、记忆、工具调用等核心技术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19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93191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实践案例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43399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典型落地场景与效果数据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3035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0352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挑战与展望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71500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当前瓶颈与未来发展方向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0" b="1">
                <a:solidFill>
                  <a:srgbClr val="1A2540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Arial"/>
                <a:ea typeface="Arial"/>
              </a:rPr>
              <a:t>CHAPTER 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0" y="2743200"/>
            <a:ext cx="10972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301752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背景与趋势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9319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AI Agent 时代已然到来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5029200"/>
            <a:ext cx="4572000" cy="0"/>
          </a:xfrm>
          <a:prstGeom prst="line">
            <a:avLst/>
          </a:prstGeom>
          <a:ln w="12700">
            <a:solidFill>
              <a:srgbClr val="2D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AI Agent 发展背景与行业趋势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46304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Microsoft YaHei"/>
                <a:ea typeface="Microsoft YaHei"/>
              </a:rPr>
              <a:t>▍发展背景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14600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77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大模型能力跃迁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LLM 从对话走向推理、规划，为 Agent 提供核心大脑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74720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337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产业需求升级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从信息检索到任务执行，企业需要端到端的自动化解决方案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434840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297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工具生态成熟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634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API 经济、插件体系、RPA 等基础设施日趋完善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60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257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成本快速下降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235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推理成本指数级降低，Agent 规模化部署成为可能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B61FF"/>
                </a:solidFill>
                <a:latin typeface="Microsoft YaHei"/>
                <a:ea typeface="Microsoft YaHei"/>
              </a:rPr>
              <a:t>▍行业趋势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514600"/>
            <a:ext cx="146304" cy="14630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377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从单 Agent 到多 Agent 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743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多智能体协同解决复杂任务，效率显著提升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474720"/>
            <a:ext cx="146304" cy="14630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337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垂直领域深耕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7033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金融、医疗、法律等专业领域 Agent 快速发展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4434840"/>
            <a:ext cx="146304" cy="14630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297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端云协同架构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634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端侧轻量 Agent + 云端大模型，兼顾隐私与能力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5394960"/>
            <a:ext cx="146304" cy="14630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5257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自主进化能力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6235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Agent 具备自我反思与持续学习的进化机制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AI Agent 核心架构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六大核心模块构成完整的智能体闭环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175504" y="3108960"/>
            <a:ext cx="1828800" cy="128016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</a:rPr>
              <a:t>大语言模型
(LLM Core)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0020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D4FF"/>
                </a:solidFill>
                <a:latin typeface="Microsoft YaHei"/>
              </a:rPr>
              <a:t>感知模块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0017" y="24231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D4FF"/>
                </a:solidFill>
                <a:latin typeface="Microsoft YaHei"/>
              </a:rPr>
              <a:t>规划模块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0017" y="406908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B61FF"/>
                </a:solidFill>
                <a:latin typeface="Microsoft YaHei"/>
              </a:rPr>
              <a:t>记忆模块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489204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B61FF"/>
                </a:solidFill>
                <a:latin typeface="Microsoft YaHei"/>
              </a:rPr>
              <a:t>工具调用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Tool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8110" y="406908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166"/>
                </a:solidFill>
                <a:latin typeface="Microsoft YaHei"/>
              </a:rPr>
              <a:t>行动执行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8110" y="24231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166"/>
                </a:solidFill>
                <a:latin typeface="Microsoft YaHei"/>
              </a:rPr>
              <a:t>反思学习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Reflection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Microsoft YaHei"/>
                <a:ea typeface="Microsoft YaHei"/>
              </a:rPr>
              <a:t>闭环机制：</a:t>
            </a:r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感知 → 规划 → 行动 → 反思 → 记忆更新 → 再感知</a:t>
            </a: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，形成持续进化的智能体循环。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三大核心关键技术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规划能力、记忆系统、工具使用构成 Agent 能力铁三角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0">
                <a:solidFill>
                  <a:srgbClr val="00D4FF"/>
                </a:solidFill>
                <a:latin typeface="Microsoft YaHei"/>
                <a:ea typeface="Microsoft YaHe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规划能力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  <a:ea typeface="Arial"/>
              </a:rPr>
              <a:t>Planning &amp; Reasoning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20" y="3657600"/>
            <a:ext cx="9144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" y="4133088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233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任务拆解与子目标生成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36008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262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多步推理与路径规划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38928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29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动态调整与容错机制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641848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532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ReAct / CoT / ToT 范式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645920"/>
            <a:ext cx="356616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645920"/>
            <a:ext cx="3566160" cy="73152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7B61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92024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0">
                <a:solidFill>
                  <a:srgbClr val="7B61FF"/>
                </a:solidFill>
                <a:latin typeface="Microsoft YaHei"/>
                <a:ea typeface="Microsoft YaHe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432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  <a:ea typeface="Arial"/>
              </a:rPr>
              <a:t>Memory System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0" y="3657600"/>
            <a:ext cx="9144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0233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短期工作记忆（上下文）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4636008"/>
            <a:ext cx="109728" cy="10972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5262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长期记忆（向量数据库）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5138928"/>
            <a:ext cx="109728" cy="10972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5029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记忆检索与遗忘机制</a:t>
            </a:r>
          </a:p>
        </p:txBody>
      </p:sp>
      <p:sp>
        <p:nvSpPr>
          <p:cNvPr id="32" name="Oval 31"/>
          <p:cNvSpPr/>
          <p:nvPr/>
        </p:nvSpPr>
        <p:spPr>
          <a:xfrm>
            <a:off x="4800600" y="5641848"/>
            <a:ext cx="109728" cy="10972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532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经验总结与知识沉淀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645920"/>
            <a:ext cx="356616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645920"/>
            <a:ext cx="3566160" cy="73152"/>
          </a:xfrm>
          <a:prstGeom prst="rect">
            <a:avLst/>
          </a:prstGeom>
          <a:gradFill rotWithShape="1">
            <a:gsLst>
              <a:gs pos="0">
                <a:srgbClr val="FFD166"/>
              </a:gs>
              <a:gs pos="100000">
                <a:srgbClr val="FFD16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92024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0">
                <a:solidFill>
                  <a:srgbClr val="FFD166"/>
                </a:solidFill>
                <a:latin typeface="Microsoft YaHei"/>
                <a:ea typeface="Microsoft YaHei"/>
              </a:rPr>
              <a:t>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7432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工具调用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  <a:ea typeface="Arial"/>
              </a:rPr>
              <a:t>Tool Use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46920" y="3657600"/>
            <a:ext cx="914400" cy="0"/>
          </a:xfrm>
          <a:prstGeom prst="line">
            <a:avLst/>
          </a:prstGeom>
          <a:ln w="2540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686800" y="4133088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0233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Function Calling 机制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4636008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45262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多工具编排与组合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0" y="5138928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5029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API / 插件 / RPA 集成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0" y="5641848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5532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工具学习与自主创造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Agent 执行循环 (Agent Loop)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观察 → 思考 → 行动 → 再观察，经典 OODA 循环的 AI 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18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D4FF"/>
                </a:solidFill>
                <a:latin typeface="Microsoft YaHei"/>
              </a:rPr>
              <a:t>接收任务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User Task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70251" y="2926080"/>
            <a:ext cx="118872" cy="18288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9826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D4FF"/>
                </a:solidFill>
                <a:latin typeface="Microsoft YaHei"/>
              </a:rPr>
              <a:t>理解与规划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Understand &amp; Plan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53331" y="2926080"/>
            <a:ext cx="118872" cy="18288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134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B61FF"/>
                </a:solidFill>
                <a:latin typeface="Microsoft YaHei"/>
              </a:rPr>
              <a:t>工具调用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Tool Calling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6411" y="2926080"/>
            <a:ext cx="118872" cy="18288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442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B61FF"/>
                </a:solidFill>
                <a:latin typeface="Microsoft YaHei"/>
              </a:rPr>
              <a:t>执行行动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Execute Action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19491" y="2926080"/>
            <a:ext cx="118872" cy="18288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4750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166"/>
                </a:solidFill>
                <a:latin typeface="Microsoft YaHei"/>
              </a:rPr>
              <a:t>结果观察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Observe Result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2571" y="2926080"/>
            <a:ext cx="118872" cy="18288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0587" y="2560320"/>
            <a:ext cx="1645920" cy="914400"/>
          </a:xfrm>
          <a:prstGeom prst="roundRect">
            <a:avLst>
              <a:gd name="adj" fmla="val 30000"/>
            </a:avLst>
          </a:prstGeom>
          <a:solidFill>
            <a:srgbClr val="1A2540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166"/>
                </a:solidFill>
                <a:latin typeface="Microsoft YaHei"/>
              </a:rPr>
              <a:t>反思迭代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Arial"/>
              </a:rPr>
              <a:t>Reflect &amp; Iterate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38147.5" y="3931920"/>
            <a:ext cx="8915400.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187" y="402336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↩  反馈循环：未达成目标则继续迭代，直到任务完成或触发终止条件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73152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迭代次数可控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最大步数限制，防止无限循环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4754880"/>
            <a:ext cx="73152" cy="128016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终止条件明确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3949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任务完成 / 失败 / 超时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中间状态可观测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3949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每步行动透明可追溯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实践效果与关键指标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某企业级 Agent 平台上线 3 个月核心数据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16459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Arial"/>
                <a:ea typeface="Arial"/>
              </a:rP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任务完成率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+23%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651760" cy="16459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7B61FF"/>
                </a:solidFill>
                <a:latin typeface="Arial"/>
                <a:ea typeface="Arial"/>
              </a:rPr>
              <a:t>3.2x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效率提升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vs 人工处理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51760" cy="16459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D166"/>
                </a:solidFill>
                <a:latin typeface="Arial"/>
                <a:ea typeface="Arial"/>
              </a:rPr>
              <a:t>94.6%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准确率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↑ 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651760" cy="16459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Arial"/>
                <a:ea typeface="Arial"/>
              </a:rPr>
              <a:t>1200+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日均调用量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926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月增 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5486400" cy="25603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Microsoft YaHei"/>
                <a:ea typeface="Microsoft YaHei"/>
              </a:rPr>
              <a:t>▍应用场景分布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代码开发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36168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2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4361688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2976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Arial"/>
                <a:ea typeface="Arial"/>
              </a:rPr>
              <a:t>68%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数据分析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7731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2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4773168"/>
            <a:ext cx="1901952" cy="256032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47091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7B61FF"/>
                </a:solidFill>
                <a:latin typeface="Arial"/>
                <a:ea typeface="Arial"/>
              </a:rPr>
              <a:t>52%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文档处理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18464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2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03120" y="5184648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512064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  <a:latin typeface="Arial"/>
                <a:ea typeface="Arial"/>
              </a:rP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321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客服问答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55961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2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03120" y="55961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55321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Arial"/>
                <a:ea typeface="Arial"/>
              </a:rPr>
              <a:t>45%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566160"/>
            <a:ext cx="5394960" cy="256032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B61FF"/>
                </a:solidFill>
                <a:latin typeface="Microsoft YaHei"/>
                <a:ea typeface="Microsoft YaHei"/>
              </a:rPr>
              <a:t>▍核心收益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29768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D166"/>
                </a:solidFill>
                <a:latin typeface="Microsoft YaHei"/>
                <a:ea typeface="Microsoft YaHei"/>
              </a:rPr>
              <a:t>降低 60%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人力成本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177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同等工作量下人力投入大幅减少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8920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D166"/>
                </a:solidFill>
                <a:latin typeface="Microsoft YaHei"/>
                <a:ea typeface="Microsoft YaHei"/>
              </a:rPr>
              <a:t>提升 5 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892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响应速度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212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7x24 小时不间断服务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4864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D166"/>
                </a:solidFill>
                <a:latin typeface="Microsoft YaHei"/>
                <a:ea typeface="Microsoft YaHei"/>
              </a:rPr>
              <a:t>下降 45%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486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错误率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8064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标准化流程减少人为失误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典型落地场景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三个已验证的高价值 Agent 应用场景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5760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研发效能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智能代码助手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154680"/>
            <a:ext cx="73152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33756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集成代码仓库、CI/CD、文档系统，帮助开发者完成需求分析、代码生成、Review、Bug 定位等全流程任务。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"/>
                <a:ea typeface="Microsoft YaHei"/>
              </a:rPr>
              <a:t>✦ 核心效果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代码评审效率 +70%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Bug 修复时间缩短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8873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新人上手周期减少 50%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65760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9202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数据分析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数据洞察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315468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33756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自然语言驱动的数据分析助手，自动连接数据库、生成 SQL、制作图表、撰写分析报告，让数据赋能全员。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B61FF"/>
                </a:solidFill>
                <a:latin typeface="Microsoft YaHei"/>
                <a:ea typeface="Microsoft YaHei"/>
              </a:rPr>
              <a:t>✦ 核心效果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120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取数需求响应 &lt;5min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504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数据分析师人效 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88873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业务自助分析率 85%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645920"/>
            <a:ext cx="3657600" cy="47548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49640" y="19202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运营自动化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智能运营 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49640" y="3154680"/>
            <a:ext cx="731520" cy="0"/>
          </a:xfrm>
          <a:prstGeom prst="line">
            <a:avLst/>
          </a:prstGeom>
          <a:ln w="2540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49640" y="333756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7x24 小时自动化运营，覆盖内容生成、用户触达、活动策划、数据监控，实现千人千面的精细化运营。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icrosoft YaHei"/>
                <a:ea typeface="Microsoft YaHei"/>
              </a:rPr>
              <a:t>✦ 核心效果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5120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运营人力节省 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504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用户转化率 +28%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88873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• 活动上线周期从周到小时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当前挑战与应对思路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FD166"/>
                </a:solidFill>
                <a:latin typeface="Microsoft YaHei"/>
                <a:ea typeface="Microsoft YaHei"/>
              </a:rP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可靠性与幻觉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▸ 问题：Agent 可能生成错误信息或执行错误操作，导致业务风险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D166"/>
                </a:solidFill>
                <a:latin typeface="Microsoft YaHei"/>
                <a:ea typeface="Microsoft YaHei"/>
              </a:rPr>
              <a:t>▸ 思路：</a:t>
            </a:r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多轮验证 + 人工把关 + 沙箱执行 + 置信度评估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0D4FF"/>
                </a:solidFill>
                <a:latin typeface="Microsoft YaHei"/>
                <a:ea typeface="Microsoft YaHei"/>
              </a:rPr>
              <a:t>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745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上下文窗口限制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▸ 问题：长任务、复杂场景下信息丢失，影响推理连贯性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Microsoft YaHei"/>
                <a:ea typeface="Microsoft YaHei"/>
              </a:rPr>
              <a:t>▸ 思路：</a:t>
            </a:r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分层记忆 + 摘要压缩 + 向量检索 + 滚动上下文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80"/>
            <a:ext cx="73152" cy="219456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7B61FF"/>
                </a:solidFill>
                <a:latin typeface="Microsoft YaHei"/>
                <a:ea typeface="Microsoft YaHei"/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成本与延迟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▸ 问题：多轮推理 + 工具调用导致响应慢、费用高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61FF"/>
                </a:solidFill>
                <a:latin typeface="Microsoft YaHei"/>
                <a:ea typeface="Microsoft YaHei"/>
              </a:rPr>
              <a:t>▸ 思路：</a:t>
            </a:r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大小模型协作 + 缓存机制 + 并行调用 + 本地推理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069080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069080"/>
            <a:ext cx="73152" cy="21945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FD166"/>
                </a:solidFill>
                <a:latin typeface="Microsoft YaHei"/>
                <a:ea typeface="Microsoft YaHe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97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安全与可控性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92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▸ 问题：工具调用权限、数据泄露、Prompt 注入等安全风险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4068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D166"/>
                </a:solidFill>
                <a:latin typeface="Microsoft YaHei"/>
                <a:ea typeface="Microsoft YaHei"/>
              </a:rPr>
              <a:t>▸ 思路：</a:t>
            </a:r>
            <a:r>
              <a:rPr sz="1200" b="0">
                <a:solidFill>
                  <a:srgbClr val="C9D1D9"/>
                </a:solidFill>
                <a:latin typeface="Microsoft YaHei"/>
                <a:ea typeface="Microsoft YaHei"/>
              </a:rPr>
              <a:t>权限分级 + 审计日志 + 输入输出过滤 + 沙箱隔离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未来发展方向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9144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59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Agent 技术演进的五大趋势预判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多模态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40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从纯文本走向图文音视频全方位感知与交互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2560320"/>
            <a:ext cx="0" cy="137160"/>
          </a:xfrm>
          <a:prstGeom prst="line">
            <a:avLst/>
          </a:prstGeom>
          <a:ln w="12700">
            <a:solidFill>
              <a:srgbClr val="2D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889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多 Agent 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专业化分工 + 协同机制，应对复杂系统性任务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3429000"/>
            <a:ext cx="0" cy="137160"/>
          </a:xfrm>
          <a:prstGeom prst="line">
            <a:avLst/>
          </a:prstGeom>
          <a:ln w="12700">
            <a:solidFill>
              <a:srgbClr val="2D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端侧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7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轻量化模型 + 端侧推理，保护隐私降低延迟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" y="4297680"/>
            <a:ext cx="0" cy="137160"/>
          </a:xfrm>
          <a:prstGeom prst="line">
            <a:avLst/>
          </a:prstGeom>
          <a:ln w="12700">
            <a:solidFill>
              <a:srgbClr val="2D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自主进化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持续学习 + 自我改进，Agent 能力随使用不断提升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" y="5166360"/>
            <a:ext cx="0" cy="137160"/>
          </a:xfrm>
          <a:prstGeom prst="line">
            <a:avLst/>
          </a:prstGeom>
          <a:ln w="12700">
            <a:solidFill>
              <a:srgbClr val="2D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520" y="539496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949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Agent 经济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150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Agent 之间自主交易与协作，形成新的数字经济生态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645920"/>
            <a:ext cx="41148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0" b="0">
                <a:solidFill>
                  <a:srgbClr val="1A2540"/>
                </a:solidFill>
                <a:latin typeface="Microsoft YaHei"/>
                <a:ea typeface="Microsoft YaHei"/>
              </a:rPr>
              <a:t>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50292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16636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"Agent 是软件 2.0 的终极形态，
将重塑数字世界的交互方式。"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Agent Technical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61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7B61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75504" y="3291840"/>
            <a:ext cx="18288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9D1D9"/>
                </a:solidFill>
                <a:latin typeface="Microsoft YaHei"/>
                <a:ea typeface="Microsoft YaHei"/>
              </a:rPr>
              <a:t>感谢聆听 · 欢迎交流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3904" y="4572000"/>
            <a:ext cx="4572000" cy="13716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4" y="4709160"/>
            <a:ext cx="4572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0D4FF"/>
                </a:solidFill>
                <a:latin typeface="Microsoft YaHei"/>
                <a:ea typeface="Microsoft YaHei"/>
              </a:rPr>
              <a:t>📧  </a:t>
            </a:r>
            <a:r>
              <a:rPr sz="1300" b="0">
                <a:solidFill>
                  <a:srgbClr val="C9D1D9"/>
                </a:solidFill>
                <a:latin typeface="Arial"/>
                <a:ea typeface="Arial"/>
              </a:rPr>
              <a:t>contact@example.com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0D4FF"/>
                </a:solidFill>
                <a:latin typeface="Microsoft YaHei"/>
                <a:ea typeface="Microsoft YaHei"/>
              </a:rPr>
              <a:t>🌐  </a:t>
            </a:r>
            <a:r>
              <a:rPr sz="1300" b="0">
                <a:solidFill>
                  <a:srgbClr val="C9D1D9"/>
                </a:solidFill>
                <a:latin typeface="Arial"/>
                <a:ea typeface="Arial"/>
              </a:rPr>
              <a:t>www.example.com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0D4FF"/>
                </a:solidFill>
                <a:latin typeface="Microsoft YaHei"/>
                <a:ea typeface="Microsoft YaHei"/>
              </a:rPr>
              <a:t>💬  </a:t>
            </a:r>
            <a:r>
              <a:rPr sz="1300" b="0">
                <a:solidFill>
                  <a:srgbClr val="C9D1D9"/>
                </a:solidFill>
                <a:latin typeface="Microsoft YaHei"/>
                <a:ea typeface="Microsoft YaHei"/>
              </a:rPr>
              <a:t>技术团队 · AI Agent 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